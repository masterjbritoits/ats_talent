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828800"/>
            <a:ext cx="9144000" cy="9144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3657600"/>
            <a:ext cx="7315200" cy="7315200"/>
          </a:xfrm>
          <a:prstGeom prst="ellipse">
            <a:avLst/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87680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800" y="0"/>
            <a:ext cx="4876805" cy="73152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600" y="0"/>
            <a:ext cx="487680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2011680"/>
            <a:ext cx="3291840" cy="4114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0299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PLATAFORMA ATS  |  v2.0  |  Fase 4 Completa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Segoe UI Light"/>
              </a:defRPr>
            </a:pPr>
            <a:r>
              <a:t>ITSector Talent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661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6B6D4"/>
                </a:solidFill>
                <a:latin typeface="Segoe UI Light"/>
              </a:defRPr>
            </a:pPr>
            <a:r>
              <a:t>Inbox 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754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Segoe UI"/>
              </a:defRPr>
            </a:pPr>
            <a:r>
              <a:t>Sistema Inteligente de Gestao de Candidaturas e Recrutamento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557784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5852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Transformar emails em talento. Automaticamente.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6675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19+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995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Funcionalidades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6675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M365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6995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Integracao Nativa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6675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6995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Local &amp; Seguro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O DESAFIO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Light"/>
              </a:defRPr>
            </a:pPr>
            <a:r>
              <a:t>O Recrutamento Tradicional por Email Nao Escala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29260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292608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11680" y="2651760"/>
            <a:ext cx="640080" cy="64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Emails Perdidos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023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Candidaturas enterradas na caixa</a:t>
            </a:r>
            <a:br/>
            <a:r>
              <a:t>de entrada sem rastreamento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286000"/>
            <a:ext cx="29260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2286000"/>
            <a:ext cx="29260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303520" y="265176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CVs Manuais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023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Leitura manual de dezenas de CVs</a:t>
            </a:r>
            <a:br/>
            <a:r>
              <a:t>por dia sem normalizacao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2286000"/>
            <a:ext cx="29260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79" y="2286000"/>
            <a:ext cx="29260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95359" y="265176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#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399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Sem Ranking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399" y="4023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Impossivel comparar candidatos</a:t>
            </a:r>
            <a:br/>
            <a:r>
              <a:t>objectivamente entre vagas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89920" y="2286000"/>
            <a:ext cx="29260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789920" y="2286000"/>
            <a:ext cx="292608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887200" y="2651760"/>
            <a:ext cx="640080" cy="64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Tempo Perdido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4023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Horas gastas em tarefas repetitivas</a:t>
            </a:r>
            <a:br/>
            <a:r>
              <a:t>que podiam ser automatizadas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6217920"/>
            <a:ext cx="12801600" cy="109728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6400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6B6D4"/>
                </a:solidFill>
                <a:latin typeface="Segoe UI"/>
              </a:defRPr>
            </a:pPr>
            <a:r>
              <a:t>67%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6446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Segoe UI"/>
              </a:defRPr>
            </a:pPr>
            <a:r>
              <a:t>dos recrutadores afirmam perder candidatos qualificados devido a processos manuais desorganizados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A SOLUCAO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Light"/>
              </a:defRPr>
            </a:pPr>
            <a:r>
              <a:t>De Email a Contratacao - Tudo Automatizado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24688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256032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83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Email Recebido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Sincronizacao</a:t>
            </a:r>
            <a:br/>
            <a:r>
              <a:t>automatica M365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26080" y="3383280"/>
            <a:ext cx="32004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46120" y="228600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2286000"/>
            <a:ext cx="24688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14800" y="256032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383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CV Processado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Parsing PDF/DOCX</a:t>
            </a:r>
            <a:br/>
            <a:r>
              <a:t>e extracao de dados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15000" y="3383280"/>
            <a:ext cx="32004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0" y="228600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2286000"/>
            <a:ext cx="24688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03720" y="25603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383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Candidato Criado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Perfil normalizado</a:t>
            </a:r>
            <a:br/>
            <a:r>
              <a:t>com competencias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503920" y="3383280"/>
            <a:ext cx="32004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823959" y="228600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23959" y="2286000"/>
            <a:ext cx="24688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92639" y="256032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19" y="3383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Score Calculado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19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Avaliacao heuristica</a:t>
            </a:r>
            <a:br/>
            <a:r>
              <a:t>por vaga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1292839" y="3383280"/>
            <a:ext cx="32004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612880" y="228600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612880" y="2286000"/>
            <a:ext cx="24688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2481560" y="256032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50040" y="3383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Decisao Tomada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50040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Avancar, Rever</a:t>
            </a:r>
            <a:br/>
            <a:r>
              <a:t>ou Rejeitar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5760720"/>
            <a:ext cx="12801600" cy="164592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59436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Resultado: Zero Trabalho Manual na Triagem Inicial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649224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O sistema processa automaticamente cada email, extrai informacao dos CVs, cria perfis de candidatos,</a:t>
            </a:r>
            <a:br/>
            <a:r>
              <a:t>calcula pontuacoes de adequacao e recomenda accoes - tudo em segundos.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Visao Geral em Tempo Real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3716000" cy="6400800"/>
          </a:xfrm>
          <a:prstGeom prst="roundRect">
            <a:avLst>
              <a:gd name="adj" fmla="val 2000"/>
            </a:avLst>
          </a:prstGeom>
          <a:solidFill>
            <a:srgbClr val="0B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286000" cy="6400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ITSector ATS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2286000" cy="36576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47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58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Inbox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700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Candidatos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81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Vagas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930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Talent Pool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044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Templates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15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Relatorios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274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Definicoes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164592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Segoe UI"/>
              </a:defRPr>
            </a:pPr>
            <a:r>
              <a:t>312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423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Total Candidatos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164592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2423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Vagas Abertas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64592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423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Em Revisao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35640" y="164592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3564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  <a:latin typeface="Segoe UI"/>
              </a:defRPr>
            </a:pPr>
            <a:r>
              <a:t>92%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2423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Taxa Processamento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0" y="3291840"/>
            <a:ext cx="5029200" cy="29260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BD5E1"/>
                </a:solidFill>
                <a:latin typeface="Segoe UI"/>
              </a:defRPr>
            </a:pPr>
            <a:r>
              <a:t>Candidaturas por Vaga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886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.NET Dev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3922776"/>
            <a:ext cx="2880360" cy="201168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0" y="4270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React Dev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0" y="4306824"/>
            <a:ext cx="2304288" cy="201168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0" y="465429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QA Engineer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4690872"/>
            <a:ext cx="1536192" cy="201168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0" y="5038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DevOps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5074920"/>
            <a:ext cx="1856231" cy="201168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0" y="5422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Power Apps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0" y="5458968"/>
            <a:ext cx="1216152" cy="201168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1840" y="5806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Mobile Dev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0" y="5843016"/>
            <a:ext cx="1408176" cy="201168"/>
          </a:xfrm>
          <a:prstGeom prst="roundRect">
            <a:avLst>
              <a:gd name="adj" fmla="val 20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321040" y="3291840"/>
            <a:ext cx="5577840" cy="29260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BD5E1"/>
                </a:solidFill>
                <a:latin typeface="Segoe UI"/>
              </a:defRPr>
            </a:pPr>
            <a:r>
              <a:t>Actividade Recente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03920" y="3840480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0" y="37947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Duplicado fundido: Joao Santos (2 registos)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03920" y="4224528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78240" y="417880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Candidato criado: Ana Rodrigues (React Dev)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03920" y="4608576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78240" y="456285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Score: Pedro Almeida - 91/100 -&gt; AVANCAR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03920" y="4992624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78240" y="494690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Entrevista agendada: Maria Silva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03920" y="537667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78240" y="53309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Exportacao Excel: 312 candidatos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03920" y="5760720"/>
            <a:ext cx="109728" cy="10972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78240" y="5715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Vaga publicada: DevOps Engineer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017520" y="6400800"/>
            <a:ext cx="10881360" cy="10972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9184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BD5E1"/>
                </a:solidFill>
                <a:latin typeface="Segoe UI"/>
              </a:defRPr>
            </a:pPr>
            <a:r>
              <a:t>Pipeline de Recrutamento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00400" y="6812280"/>
            <a:ext cx="1554480" cy="54864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0" y="6812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00400" y="70683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Novo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983480" y="6812280"/>
            <a:ext cx="1554480" cy="54864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983480" y="6812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83480" y="70683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Revisao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766560" y="6812280"/>
            <a:ext cx="1554480" cy="548640"/>
          </a:xfrm>
          <a:prstGeom prst="roundRect">
            <a:avLst>
              <a:gd name="adj" fmla="val 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66560" y="6812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66560" y="70683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Shortlist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549640" y="6812280"/>
            <a:ext cx="1554480" cy="548640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49640" y="6812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49640" y="70683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Entrevista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332720" y="6812280"/>
            <a:ext cx="1554480" cy="54864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332720" y="6812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332720" y="70683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Oferta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2115800" y="6812280"/>
            <a:ext cx="1554480" cy="54864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2115800" y="6812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115800" y="70683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Contratado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INBOX INTELIGENTE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Sincronizacao Automatica com Microsoft 365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3716000" cy="6217920"/>
          </a:xfrm>
          <a:prstGeom prst="roundRect">
            <a:avLst>
              <a:gd name="adj" fmla="val 2000"/>
            </a:avLst>
          </a:prstGeom>
          <a:solidFill>
            <a:srgbClr val="0B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286000" cy="6400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ITSector 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47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0280"/>
            <a:ext cx="2286000" cy="36576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58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Inbox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700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Candidatos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81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Vagas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930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Talent Pool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044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Templates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15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Relatorios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274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Definicoes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Inbox - careers@itsector.pt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0" y="150876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0" y="15361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Sincronizar Agora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2103120"/>
            <a:ext cx="10972800" cy="411480"/>
          </a:xfrm>
          <a:prstGeom prst="roundRect">
            <a:avLst>
              <a:gd name="adj" fmla="val 5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21214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Ultima sincronizacao: ha 3 minutos  |  29 emails processados  |  11 novos candidatos criados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7520" y="2697480"/>
            <a:ext cx="10972800" cy="54864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17520" y="2697480"/>
            <a:ext cx="54864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2743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Maria Silva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7432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Candidatura - .NET Developer Senior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27432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14:32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344400" y="2788920"/>
            <a:ext cx="1188720" cy="292608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44400" y="28072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CV Processado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0" y="3291840"/>
            <a:ext cx="10972800" cy="548640"/>
          </a:xfrm>
          <a:prstGeom prst="roundRect">
            <a:avLst>
              <a:gd name="adj" fmla="val 2000"/>
            </a:avLst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17520" y="3291840"/>
            <a:ext cx="54864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3337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Joao Santos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337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Candidatura React Developer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33375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13:45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344400" y="3383280"/>
            <a:ext cx="1188720" cy="292608"/>
          </a:xfrm>
          <a:prstGeom prst="roundRect">
            <a:avLst>
              <a:gd name="adj" fmla="val 15000"/>
            </a:avLst>
          </a:prstGeom>
          <a:solidFill>
            <a:srgbClr val="3D2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44400" y="34015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Em Analise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3886200"/>
            <a:ext cx="10972800" cy="54864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017520" y="3886200"/>
            <a:ext cx="54864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3931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Ana Costa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39319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Re: Oportunidade QA Engineer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39319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12:20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344400" y="3977640"/>
            <a:ext cx="1188720" cy="292608"/>
          </a:xfrm>
          <a:prstGeom prst="roundRect">
            <a:avLst>
              <a:gd name="adj" fmla="val 15000"/>
            </a:avLst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44400" y="39959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B82F6"/>
                </a:solidFill>
                <a:latin typeface="Segoe UI"/>
              </a:defRPr>
            </a:pPr>
            <a:r>
              <a:t>Novo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17520" y="4480560"/>
            <a:ext cx="10972800" cy="548640"/>
          </a:xfrm>
          <a:prstGeom prst="roundRect">
            <a:avLst>
              <a:gd name="adj" fmla="val 2000"/>
            </a:avLst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017520" y="4480560"/>
            <a:ext cx="54864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1840" y="4526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Pedro Almeida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45262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Candidatura Espontanea - DevOps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0" y="45262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11:05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2344400" y="4572000"/>
            <a:ext cx="1188720" cy="292608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344400" y="45902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CV Processado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17520" y="5074920"/>
            <a:ext cx="10972800" cy="54864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91840" y="5120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Newsletter SAPO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0" y="5120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Tech News Semanal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0" y="51206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10:30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2344400" y="5166360"/>
            <a:ext cx="1188720" cy="292608"/>
          </a:xfrm>
          <a:prstGeom prst="roundRect">
            <a:avLst>
              <a:gd name="adj" fmla="val 15000"/>
            </a:avLst>
          </a:prstGeom>
          <a:solidFill>
            <a:srgbClr val="25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344400" y="51846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Ignorado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017520" y="5669280"/>
            <a:ext cx="10972800" cy="548640"/>
          </a:xfrm>
          <a:prstGeom prst="roundRect">
            <a:avLst>
              <a:gd name="adj" fmla="val 2000"/>
            </a:avLst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017520" y="5669280"/>
            <a:ext cx="54864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91840" y="57150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Sofia Martins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20640" y="5715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Interesse vaga Power Apps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0" y="57150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09:15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2344400" y="5760720"/>
            <a:ext cx="1188720" cy="292608"/>
          </a:xfrm>
          <a:prstGeom prst="roundRect">
            <a:avLst>
              <a:gd name="adj" fmla="val 15000"/>
            </a:avLst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344400" y="57790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B82F6"/>
                </a:solidFill>
                <a:latin typeface="Segoe UI"/>
              </a:defRPr>
            </a:pPr>
            <a:r>
              <a:t>Novo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017520" y="6263640"/>
            <a:ext cx="10972800" cy="54864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017520" y="6263640"/>
            <a:ext cx="54864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91840" y="63093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Carlos Ferreira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20640" y="6309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CV em anexo - Mobile Developer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430000" y="63093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08:40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2344400" y="6355080"/>
            <a:ext cx="1188720" cy="292608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344400" y="63733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CV Processado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00400" y="7086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Verde = Candidatura Detectada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7086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Cinza = Email Ignorado (nao-candidatura)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GESTAO DE CANDIDATOS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Light"/>
              </a:defRPr>
            </a:pPr>
            <a:r>
              <a:t>Pipeline com Filtros, Paginacao e Revisao de Duplicados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3716000" cy="6217920"/>
          </a:xfrm>
          <a:prstGeom prst="roundRect">
            <a:avLst>
              <a:gd name="adj" fmla="val 2000"/>
            </a:avLst>
          </a:prstGeom>
          <a:solidFill>
            <a:srgbClr val="0B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286000" cy="6400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ITSector 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47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58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Inbox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2286000" cy="36576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700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Candidatos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81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Vagas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930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Talent Pool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044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Templates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15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Relatorios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274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Definicoes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Candidate 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0" y="1463040"/>
            <a:ext cx="2286000" cy="41148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0" y="1490472"/>
            <a:ext cx="2286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Accoes em Massa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1965960"/>
            <a:ext cx="10972800" cy="365760"/>
          </a:xfrm>
          <a:prstGeom prst="roundRect">
            <a:avLst>
              <a:gd name="adj" fmla="val 4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00400" y="2029968"/>
            <a:ext cx="2286000" cy="237744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03911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Segoe UI"/>
              </a:defRPr>
            </a:pPr>
            <a:r>
              <a:t>Status: Todos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2029968"/>
            <a:ext cx="2286000" cy="237744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203911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Segoe UI"/>
              </a:defRPr>
            </a:pPr>
            <a:r>
              <a:t>Vaga: Todas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2029968"/>
            <a:ext cx="2286000" cy="237744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203911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Segoe UI"/>
              </a:defRPr>
            </a:pPr>
            <a:r>
              <a:t>Score: 0+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155680" y="2029968"/>
            <a:ext cx="2286000" cy="237744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47119" y="203911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Segoe UI"/>
              </a:defRPr>
            </a:pPr>
            <a:r>
              <a:t>Ordenar: Score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0" y="2423160"/>
            <a:ext cx="10972800" cy="320040"/>
          </a:xfrm>
          <a:prstGeom prst="roundRect">
            <a:avLst>
              <a:gd name="adj" fmla="val 3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60" y="24414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#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441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Nome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79" y="2441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Vaga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24414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24414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4414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Accao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2788920"/>
            <a:ext cx="10972800" cy="402336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108960" y="289864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37560" y="284378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28437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Maria Silva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28437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.NET Developer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2852928"/>
            <a:ext cx="685800" cy="256032"/>
          </a:xfrm>
          <a:prstGeom prst="roundRect">
            <a:avLst>
              <a:gd name="adj" fmla="val 10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287121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91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69680" y="2852928"/>
            <a:ext cx="1005840" cy="256032"/>
          </a:xfrm>
          <a:prstGeom prst="roundRect">
            <a:avLst>
              <a:gd name="adj" fmla="val 10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9680" y="287121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6B6D4"/>
                </a:solidFill>
                <a:latin typeface="Segoe UI"/>
              </a:defRPr>
            </a:pPr>
            <a:r>
              <a:t>SHORTLISTED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17520" y="3227832"/>
            <a:ext cx="10972800" cy="402336"/>
          </a:xfrm>
          <a:prstGeom prst="roundRect">
            <a:avLst>
              <a:gd name="adj" fmla="val 2000"/>
            </a:avLst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108960" y="33375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37560" y="328269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1880" y="32826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Pedro Almeida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7880" y="32826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DevOps Engineer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38160" y="3291840"/>
            <a:ext cx="685800" cy="256032"/>
          </a:xfrm>
          <a:prstGeom prst="roundRect">
            <a:avLst>
              <a:gd name="adj" fmla="val 10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38160" y="331012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84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69680" y="3291840"/>
            <a:ext cx="1005840" cy="256032"/>
          </a:xfrm>
          <a:prstGeom prst="roundRect">
            <a:avLst>
              <a:gd name="adj" fmla="val 10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69680" y="331012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6B6D4"/>
                </a:solidFill>
                <a:latin typeface="Segoe UI"/>
              </a:defRPr>
            </a:pPr>
            <a:r>
              <a:t>SHORTLISTED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017520" y="3666744"/>
            <a:ext cx="10972800" cy="402336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108960" y="3776472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37560" y="37216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11880" y="3721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Joao Santos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97880" y="3721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React Developer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38160" y="3730752"/>
            <a:ext cx="685800" cy="256032"/>
          </a:xfrm>
          <a:prstGeom prst="roundRect">
            <a:avLst>
              <a:gd name="adj" fmla="val 10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38160" y="374904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76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869680" y="3730752"/>
            <a:ext cx="1005840" cy="256032"/>
          </a:xfrm>
          <a:prstGeom prst="roundRect">
            <a:avLst>
              <a:gd name="adj" fmla="val 10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69680" y="3749040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59E0B"/>
                </a:solidFill>
                <a:latin typeface="Segoe UI"/>
              </a:defRPr>
            </a:pPr>
            <a:r>
              <a:t>MANUAL_REVIEW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017520" y="4105656"/>
            <a:ext cx="10972800" cy="402336"/>
          </a:xfrm>
          <a:prstGeom prst="roundRect">
            <a:avLst>
              <a:gd name="adj" fmla="val 2000"/>
            </a:avLst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108960" y="4215384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337560" y="4160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11880" y="4160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Ana Costa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97880" y="4160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QA Engineer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138160" y="4169664"/>
            <a:ext cx="685800" cy="256032"/>
          </a:xfrm>
          <a:prstGeom prst="roundRect">
            <a:avLst>
              <a:gd name="adj" fmla="val 10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38160" y="418795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68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869680" y="4169664"/>
            <a:ext cx="1005840" cy="256032"/>
          </a:xfrm>
          <a:prstGeom prst="roundRect">
            <a:avLst>
              <a:gd name="adj" fmla="val 10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869680" y="418795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59E0B"/>
                </a:solidFill>
                <a:latin typeface="Segoe UI"/>
              </a:defRPr>
            </a:pPr>
            <a:r>
              <a:t>MANUAL_REVIEW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017520" y="4544568"/>
            <a:ext cx="10972800" cy="402336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108960" y="46542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337560" y="45994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11880" y="45994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Sofia Martins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97880" y="45994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Power Apps Dev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138160" y="4608576"/>
            <a:ext cx="685800" cy="256032"/>
          </a:xfrm>
          <a:prstGeom prst="roundRect">
            <a:avLst>
              <a:gd name="adj" fmla="val 10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138160" y="462686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869680" y="4608576"/>
            <a:ext cx="1005840" cy="256032"/>
          </a:xfrm>
          <a:prstGeom prst="roundRect">
            <a:avLst>
              <a:gd name="adj" fmla="val 10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869680" y="4626864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B82F6"/>
                </a:solidFill>
                <a:latin typeface="Segoe UI"/>
              </a:defRPr>
            </a:pPr>
            <a:r>
              <a:t>NEW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017520" y="4983479"/>
            <a:ext cx="10972800" cy="402336"/>
          </a:xfrm>
          <a:prstGeom prst="roundRect">
            <a:avLst>
              <a:gd name="adj" fmla="val 2000"/>
            </a:avLst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3108960" y="5093207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37560" y="503834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611880" y="503834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Carlos Ferreira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97880" y="503834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Mobile Developer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138160" y="5047487"/>
            <a:ext cx="685800" cy="256032"/>
          </a:xfrm>
          <a:prstGeom prst="roundRect">
            <a:avLst>
              <a:gd name="adj" fmla="val 10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138160" y="5065775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Segoe UI"/>
              </a:defRPr>
            </a:pPr>
            <a:r>
              <a:t>52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869680" y="5047487"/>
            <a:ext cx="1005840" cy="256032"/>
          </a:xfrm>
          <a:prstGeom prst="roundRect">
            <a:avLst>
              <a:gd name="adj" fmla="val 10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869680" y="5065775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B82F6"/>
                </a:solidFill>
                <a:latin typeface="Segoe UI"/>
              </a:defRPr>
            </a:pPr>
            <a:r>
              <a:t>NEW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017520" y="5440680"/>
            <a:ext cx="10972800" cy="41148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291840" y="5486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312 candidatos no total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601200" y="5486400"/>
            <a:ext cx="438912" cy="292608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601200" y="5495544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&lt;&lt; 1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104120" y="5486400"/>
            <a:ext cx="438912" cy="292608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104120" y="5495544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&lt; 1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0607040" y="5486400"/>
            <a:ext cx="438912" cy="292608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607040" y="5495544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1109960" y="5486400"/>
            <a:ext cx="438912" cy="292608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109960" y="5495544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 &gt;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1612880" y="5486400"/>
            <a:ext cx="438912" cy="292608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1612880" y="5495544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3 &gt;&gt;&gt;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017520" y="5989320"/>
            <a:ext cx="10972800" cy="594360"/>
          </a:xfrm>
          <a:prstGeom prst="roundRect">
            <a:avLst>
              <a:gd name="adj" fmla="val 4000"/>
            </a:avLst>
          </a:prstGeom>
          <a:solidFill>
            <a:srgbClr val="2D1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017520" y="5989320"/>
            <a:ext cx="54864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200400" y="60350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! Fila de Revisao de Duplicados  —  3 grupos detectados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200400" y="630936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Confianca 90%+  |  Telefone e email coincidentes  |  Expandir para fundir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2984480" y="6080760"/>
            <a:ext cx="777240" cy="36576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2984480" y="609904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Rever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PROCESSAMENTO DE CVs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Extracao Inteligente de Curriculos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572000" cy="59436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curriculum_vitae.pdf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148840"/>
            <a:ext cx="384048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MARIA SILVA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Senior .NET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346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188720" y="31089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EXPERIENCIA PROFISSIONAL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832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- ITSector (2019-presente) - .NET Developer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576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- BNP Paribas (2016-2019) - Software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9319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188720" y="42062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COMPETENCIAS TECNICAS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4805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C#, .NET Core, Azure, SQL Server, Docker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754879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REST APIs, Microservices, CI/CD, Git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0292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188720" y="53035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IDIOMAS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5778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Portugues (Nativo), Ingles (Fluente)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8521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1188720" y="61264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FORMACAO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64008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MSc Engenharia Informatica - IST (2016)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486400" y="3840480"/>
            <a:ext cx="1097280" cy="54864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0" y="4480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Parsing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1554480"/>
            <a:ext cx="6858000" cy="59436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Dados Extraidos Automaticamente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Nome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286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Maria Silva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2715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Titulo Actual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7157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Senior .NET Developer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1455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Localizacao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314553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Lisboa, Portugal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5753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Anos Experiencia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57530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8 anos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0050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Skills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0050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["C#", ".NET Core", "Azure", "Docker"]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4434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Idiomas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4434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["Portugues (Nativo)", "Ingles (Fluente)"]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4864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Educacao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48646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["MSc Eng. Informatica - IST 2016"]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52943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Experiencia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529437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["ITSector 2019-2025", "BNP Paribas 2016-19"]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57241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LinkedIn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572414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B82F6"/>
                </a:solidFill>
                <a:latin typeface="Segoe UI"/>
              </a:defRPr>
            </a:pPr>
            <a:r>
              <a:t>linkedin.com/in/maria-silva-dev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6153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Email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61539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B82F6"/>
                </a:solidFill>
                <a:latin typeface="Segoe UI"/>
              </a:defRPr>
            </a:pPr>
            <a:r>
              <a:t>maria.silva@gmail.com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658367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Confianca Parser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658367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94%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32320" y="6583680"/>
            <a:ext cx="6217920" cy="640080"/>
          </a:xfrm>
          <a:prstGeom prst="roundRect">
            <a:avLst>
              <a:gd name="adj" fmla="val 5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498079" y="672084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79" y="67391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PDF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61119" y="672084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61119" y="67391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DOCX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424159" y="672084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24159" y="67391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DOC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887200" y="672084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887200" y="67391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OCR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MOTOR DE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Avaliacao Objectiva e Configuravel</a:t>
            </a:r>
          </a:p>
        </p:txBody>
      </p:sp>
      <p:sp>
        <p:nvSpPr>
          <p:cNvPr id="4" name="Oval 3"/>
          <p:cNvSpPr/>
          <p:nvPr/>
        </p:nvSpPr>
        <p:spPr>
          <a:xfrm>
            <a:off x="1828800" y="2743200"/>
            <a:ext cx="2743200" cy="2743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03120" y="3017520"/>
            <a:ext cx="2194560" cy="219456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36576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389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pontos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Skills Obrigatorias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847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Match com requisitos da vaga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0" y="171907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0" y="171907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50240" y="1645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30 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2402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2240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Anos Experiencia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44144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Adequacao ao nivel exigido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0" y="231343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5600" y="2313432"/>
            <a:ext cx="137160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350240" y="2240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15 pts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8346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2834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Skills Opcionais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03580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Competencias diferenciadoras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0" y="290779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0" y="2907792"/>
            <a:ext cx="914400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350240" y="28346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10 pts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4290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3720" y="3429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Idiomas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63016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Correspondencia linguistica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0" y="350215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515600" y="3502152"/>
            <a:ext cx="914400" cy="128016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350240" y="34290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10 pts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0233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3720" y="4023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Titulo/Senioridade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42245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Relevancia funcional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515600" y="409651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515600" y="4096512"/>
            <a:ext cx="914400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350240" y="4023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10 pts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6177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03720" y="46177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Dominio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48188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Experiencia no sector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15600" y="469087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515600" y="4690872"/>
            <a:ext cx="914400" cy="128016"/>
          </a:xfrm>
          <a:prstGeom prst="roundRect">
            <a:avLst>
              <a:gd name="adj" fmla="val 30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350240" y="4617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10 pts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52120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03720" y="5212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Localizacao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541324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Proximidade geografica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515600" y="528523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515600" y="5285232"/>
            <a:ext cx="45720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350240" y="5212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5 pts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58064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03720" y="5806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Qualidade CV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600760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Completude do curriculo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515600" y="587959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0515600" y="5879592"/>
            <a:ext cx="457200" cy="128016"/>
          </a:xfrm>
          <a:prstGeom prst="roundRect">
            <a:avLst>
              <a:gd name="adj" fmla="val 30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350240" y="58064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5 pts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0" y="64008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03720" y="6400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Factor Recrutador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3720" y="660196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Ajuste manual do recruiter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515600" y="647395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0515600" y="6473952"/>
            <a:ext cx="457200" cy="128016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35024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5 pts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1520" y="6675120"/>
            <a:ext cx="13167360" cy="82296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14400" y="6766560"/>
            <a:ext cx="731520" cy="54864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4400" y="679399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75+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28800" y="6766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AVANCAR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28800" y="70225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Auto-avanco para entrevista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303520" y="6766560"/>
            <a:ext cx="731520" cy="54864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03520" y="679399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45-74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0" y="6766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REVISAO MANUAL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0" y="70225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Requer decisao do recrutador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692640" y="6766560"/>
            <a:ext cx="731520" cy="548640"/>
          </a:xfrm>
          <a:prstGeom prst="roundRect">
            <a:avLst>
              <a:gd name="adj" fmla="val 10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92640" y="679399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&lt;45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07040" y="6766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3F5E"/>
                </a:solidFill>
                <a:latin typeface="Segoe UI"/>
              </a:defRPr>
            </a:pPr>
            <a:r>
              <a:t>REJEITAR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607040" y="70225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Abaixo do minimo para a vaga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GESTAO DE VAGAS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Vagas com Ranking Automatico de Candidatos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291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.NET Developer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Tecnologia | Lisboa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8658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ABERTA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candidatos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3410712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3410712"/>
            <a:ext cx="1911095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3931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666744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51560" y="3666744"/>
            <a:ext cx="156911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9534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3922776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51560" y="3922776"/>
            <a:ext cx="1247241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977639" y="155448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77639" y="1554480"/>
            <a:ext cx="3291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59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Senior .NET Developer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59" y="2057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Tecnologia | Porto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59" y="2377440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59" y="238658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ABERTA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59" y="2834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59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candidatos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59" y="33832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1999" y="3410712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1999" y="3410712"/>
            <a:ext cx="1911095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59" y="363931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1999" y="3666744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71999" y="3666744"/>
            <a:ext cx="156911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51959" y="389534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1999" y="3922776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71999" y="3922776"/>
            <a:ext cx="1247241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498079" y="155448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98079" y="1554480"/>
            <a:ext cx="3291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399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React Developer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399" y="2057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Frontend | Remoto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399" y="2377440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399" y="238658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ABERTA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399" y="2834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799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candidatos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399" y="33832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92439" y="3410712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092439" y="3410712"/>
            <a:ext cx="1911095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399" y="363931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39" y="3666744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092439" y="3666744"/>
            <a:ext cx="156911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399" y="389534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92439" y="3922776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092439" y="3922776"/>
            <a:ext cx="1247241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1018520" y="155448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018520" y="1554480"/>
            <a:ext cx="3291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29284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Power Apps Developer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92840" y="2057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Low Code | Lisboa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1292840" y="2377440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292840" y="238658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ABERTA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92840" y="2834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20724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candidatos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92840" y="33832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612880" y="3410712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1612880" y="3410712"/>
            <a:ext cx="1911095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292840" y="363931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1612880" y="3666744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1612880" y="3666744"/>
            <a:ext cx="156911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292840" y="389534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1612880" y="3922776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1612880" y="3922776"/>
            <a:ext cx="1247241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57200" y="457200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57200" y="4572000"/>
            <a:ext cx="3291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1520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Business Analyst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1520" y="5074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Consultoria | Lisboa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31520" y="5394960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1520" y="540410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ABERTA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" y="5852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64592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candidatos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640080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51560" y="6428232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1051560" y="6428232"/>
            <a:ext cx="1911095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31520" y="665683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51560" y="6684264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051560" y="6684264"/>
            <a:ext cx="156911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31520" y="691286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51560" y="6940296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051560" y="6940296"/>
            <a:ext cx="1247241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3977639" y="457200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977639" y="4572000"/>
            <a:ext cx="32918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251959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QA Engineer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251959" y="5074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Qualidade | Porto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251959" y="5394960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3D2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251959" y="540410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59E0B"/>
                </a:solidFill>
                <a:latin typeface="Segoe UI"/>
              </a:defRPr>
            </a:pPr>
            <a:r>
              <a:t>PAUSADA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251959" y="5852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66359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candidatos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51959" y="640080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571999" y="6428232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4571999" y="6428232"/>
            <a:ext cx="1911095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251959" y="665683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571999" y="6684264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4571999" y="6684264"/>
            <a:ext cx="156911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251959" y="691286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571999" y="6940296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4571999" y="6940296"/>
            <a:ext cx="1247241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7498079" y="457200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498079" y="4572000"/>
            <a:ext cx="3291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772399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DevOps Engineer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772399" y="5074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Infra | Remoto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772399" y="5394960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772399" y="540410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ABERTA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72399" y="5852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686799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candidatos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772399" y="640080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092439" y="6428232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8092439" y="6428232"/>
            <a:ext cx="1911095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772399" y="665683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092439" y="6684264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8092439" y="6684264"/>
            <a:ext cx="156911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772399" y="691286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8092439" y="6940296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8092439" y="6940296"/>
            <a:ext cx="1247241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11018520" y="457200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1018520" y="4572000"/>
            <a:ext cx="329184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1292840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Mobile Developer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1292840" y="5074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Mobile | Lisboa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1292840" y="5394960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25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1292840" y="540410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94A3B8"/>
                </a:solidFill>
                <a:latin typeface="Segoe UI"/>
              </a:defRPr>
            </a:pPr>
            <a:r>
              <a:t>RASCUNHO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1292840" y="5852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220724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candidatos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292840" y="640080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1612880" y="6428232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11612880" y="6428232"/>
            <a:ext cx="1911095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1292840" y="665683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11612880" y="6684264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11612880" y="6684264"/>
            <a:ext cx="156911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1292840" y="691286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11612880" y="6940296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11612880" y="6940296"/>
            <a:ext cx="1247241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COMUNICACAO INTEGRADA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Templates, Emails e Agendamento de Entrevistas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6583680" cy="59436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Templates de Email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6035040" cy="73152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73152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591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Convite para Entrevista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334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Agenda automaticamente via M365 Calendar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468880"/>
            <a:ext cx="914400" cy="32004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248716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Usar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54680"/>
            <a:ext cx="6035040" cy="73152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154680"/>
            <a:ext cx="73152" cy="7315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2278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Rejeicao Profissional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5021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Resposta respeitosa com feedback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3337560"/>
            <a:ext cx="914400" cy="320040"/>
          </a:xfrm>
          <a:prstGeom prst="roundRect">
            <a:avLst>
              <a:gd name="adj" fmla="val 10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33558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Usar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6035040" cy="73152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023360"/>
            <a:ext cx="73152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0965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Proposta/Oferta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708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Template com detalhes da posicao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4206240"/>
            <a:ext cx="914400" cy="32004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422452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Usar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92040"/>
            <a:ext cx="6035040" cy="73152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892040"/>
            <a:ext cx="73152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9651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Pedido de Informacao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239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Solicitar dados adicionais ao candidato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0" y="5074920"/>
            <a:ext cx="914400" cy="32004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509320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Usar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760720"/>
            <a:ext cx="6035040" cy="73152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5760720"/>
            <a:ext cx="73152" cy="7315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833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Boas-vindas Talent Pool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61081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Informar inclusao no talent pool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0" y="5943600"/>
            <a:ext cx="914400" cy="32004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596188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Usar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79" y="1463040"/>
            <a:ext cx="6583680" cy="59436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Compor Email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Para: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0" y="2286000"/>
            <a:ext cx="5029200" cy="365760"/>
          </a:xfrm>
          <a:prstGeom prst="roundRect">
            <a:avLst>
              <a:gd name="adj" fmla="val 5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9680" y="23134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maria.silva@gmail.com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2834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Assunto: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0" y="2834640"/>
            <a:ext cx="5029200" cy="365760"/>
          </a:xfrm>
          <a:prstGeom prst="roundRect">
            <a:avLst>
              <a:gd name="adj" fmla="val 5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9680" y="28620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Convite para Entrevista - .NET Developer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0" y="3566160"/>
            <a:ext cx="6035040" cy="2743200"/>
          </a:xfrm>
          <a:prstGeom prst="roundRect">
            <a:avLst>
              <a:gd name="adj" fmla="val 5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79" y="36576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Cara Maria Silva,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79" y="38770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</a:p>
        </p:txBody>
      </p:sp>
      <p:sp>
        <p:nvSpPr>
          <p:cNvPr id="47" name="TextBox 46"/>
          <p:cNvSpPr txBox="1"/>
          <p:nvPr/>
        </p:nvSpPr>
        <p:spPr>
          <a:xfrm>
            <a:off x="7955279" y="40965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Temos o prazer de a convidar para uma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431596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entrevista relativa a posicao de .NET Developer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79" y="453542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na ITSector.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475488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</a:p>
        </p:txBody>
      </p:sp>
      <p:sp>
        <p:nvSpPr>
          <p:cNvPr id="51" name="TextBox 50"/>
          <p:cNvSpPr txBox="1"/>
          <p:nvPr/>
        </p:nvSpPr>
        <p:spPr>
          <a:xfrm>
            <a:off x="7955279" y="497433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Data: 15 de Maio de 2026, 14:30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79" y="519379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Local: Escritorio ITSector Lisboa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79" y="541324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</a:p>
        </p:txBody>
      </p:sp>
      <p:sp>
        <p:nvSpPr>
          <p:cNvPr id="54" name="TextBox 53"/>
          <p:cNvSpPr txBox="1"/>
          <p:nvPr/>
        </p:nvSpPr>
        <p:spPr>
          <a:xfrm>
            <a:off x="7955279" y="563270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Aguardamos a sua confirmacao.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79" y="58521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Com os melhores cumprimentos,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55279" y="607161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Equipa de Recrutamento ITSector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2070080" y="65836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070080" y="66111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Enviar via M365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41280" y="65836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41280" y="66111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Agendar M365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TALENT POOL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Base de Talento Reutilizavel para Futuras Oportunidades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Candidatos qualificados que nao encaixam na vaga actual sao preservados para futuras oportunidades.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65836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65836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28600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Ana Rodrigues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60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React Developer Junior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788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Score: 58 (Near-Fit QA)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01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729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6B6D4"/>
                </a:solidFill>
                <a:latin typeface="Segoe UI"/>
              </a:defRPr>
            </a:pPr>
            <a:r>
              <a:t>React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315468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01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31729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6B6D4"/>
                </a:solidFill>
                <a:latin typeface="Segoe UI"/>
              </a:defRPr>
            </a:pPr>
            <a:r>
              <a:t>TypeScript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315468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01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31729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6B6D4"/>
                </a:solidFill>
                <a:latin typeface="Segoe UI"/>
              </a:defRPr>
            </a:pPr>
            <a:r>
              <a:t>Node.js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11880"/>
            <a:ext cx="5943600" cy="457200"/>
          </a:xfrm>
          <a:prstGeom prst="roundRect">
            <a:avLst>
              <a:gd name="adj" fmla="val 4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Sugestao: React Developer (quando abrir junior)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2011680"/>
            <a:ext cx="65836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2011680"/>
            <a:ext cx="65836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399" y="228600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BM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59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Bruno Mendes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2560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DevOps Engineer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2788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5CF6"/>
                </a:solidFill>
                <a:latin typeface="Segoe UI"/>
              </a:defRPr>
            </a:pPr>
            <a:r>
              <a:t>Score: 62 (Near-Fit)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399" y="315468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2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399" y="31729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5CF6"/>
                </a:solidFill>
                <a:latin typeface="Segoe UI"/>
              </a:defRPr>
            </a:pPr>
            <a:r>
              <a:t>AWS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19" y="315468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2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19" y="31729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5CF6"/>
                </a:solidFill>
                <a:latin typeface="Segoe UI"/>
              </a:defRPr>
            </a:pPr>
            <a:r>
              <a:t>Terraform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39" y="315468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2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39" y="31729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5CF6"/>
                </a:solidFill>
                <a:latin typeface="Segoe UI"/>
              </a:defRPr>
            </a:pPr>
            <a:r>
              <a:t>K8s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399" y="3611880"/>
            <a:ext cx="5943600" cy="457200"/>
          </a:xfrm>
          <a:prstGeom prst="roundRect">
            <a:avLst>
              <a:gd name="adj" fmla="val 4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79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Sugestao: Proxima vaga Cloud/Infra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572000"/>
            <a:ext cx="65836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572000"/>
            <a:ext cx="65836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1520" y="484632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4846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Carla Dias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5120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Business Analyst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5349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Segoe UI"/>
              </a:defRPr>
            </a:pPr>
            <a:r>
              <a:t>Score: 71 (Revisao Manual)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71500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3D2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7332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BPMN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20240" y="571500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3D2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20240" y="57332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SQL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108960" y="571500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3D2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57332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Power BI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6172200"/>
            <a:ext cx="5943600" cy="457200"/>
          </a:xfrm>
          <a:prstGeom prst="roundRect">
            <a:avLst>
              <a:gd name="adj" fmla="val 4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Sugestao: Rever quando abrir BA Senior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98079" y="4572000"/>
            <a:ext cx="65836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98079" y="4572000"/>
            <a:ext cx="65836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772399" y="48463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59" y="4846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Daniel Sousa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59" y="5120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Full-Stack Developer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59" y="5349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Candidatura Espontanea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399" y="571500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399" y="57332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Segoe UI"/>
              </a:defRPr>
            </a:pPr>
            <a:r>
              <a:t>.NET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61119" y="571500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61119" y="57332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Segoe UI"/>
              </a:defRPr>
            </a:pPr>
            <a:r>
              <a:t>Angular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149839" y="571500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149839" y="57332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Segoe UI"/>
              </a:defRPr>
            </a:pPr>
            <a:r>
              <a:t>Azure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72399" y="6172200"/>
            <a:ext cx="5943600" cy="457200"/>
          </a:xfrm>
          <a:prstGeom prst="roundRect">
            <a:avLst>
              <a:gd name="adj" fmla="val 4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55279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Sugestao: Match com .NET Developer ou React Dev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7132320"/>
            <a:ext cx="13716000" cy="54864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" y="717804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O Talent Pool garante que nenhum candidato qualificado se perde. Sugestoes automaticas de vagas futuras maximizam o retorno do pipeline.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QUALIDADE DE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Light"/>
              </a:defRPr>
            </a:pPr>
            <a:r>
              <a:t>Merge Interactivo de Duplicados — Nova Feature v2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6126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Fila de Revisao de Duplicados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481328"/>
            <a:ext cx="914400" cy="292608"/>
          </a:xfrm>
          <a:prstGeom prst="roundRect">
            <a:avLst>
              <a:gd name="adj" fmla="val 12000"/>
            </a:avLst>
          </a:prstGeom>
          <a:solidFill>
            <a:srgbClr val="3D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14996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3 grupos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7863840" cy="502920"/>
          </a:xfrm>
          <a:prstGeom prst="roundRect">
            <a:avLst>
              <a:gd name="adj" fmla="val 4000"/>
            </a:avLst>
          </a:prstGeom>
          <a:solidFill>
            <a:srgbClr val="2A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! 2 registos duplicados detectados  —  Telefone coincidente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039112"/>
            <a:ext cx="1097280" cy="256032"/>
          </a:xfrm>
          <a:prstGeom prst="roundRect">
            <a:avLst>
              <a:gd name="adj" fmla="val 12000"/>
            </a:avLst>
          </a:prstGeom>
          <a:solidFill>
            <a:srgbClr val="3D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057400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43F5E"/>
                </a:solidFill>
                <a:latin typeface="Segoe UI"/>
              </a:defRPr>
            </a:pPr>
            <a:r>
              <a:t>92% match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06040"/>
            <a:ext cx="3200400" cy="2103120"/>
          </a:xfrm>
          <a:prstGeom prst="roundRect">
            <a:avLst>
              <a:gd name="adj" fmla="val 5000"/>
            </a:avLst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606040"/>
            <a:ext cx="32004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0" y="2606040"/>
            <a:ext cx="914400" cy="320040"/>
          </a:xfrm>
          <a:prstGeom prst="roundRect">
            <a:avLst>
              <a:gd name="adj" fmla="val 12000"/>
            </a:avLst>
          </a:prstGeom>
          <a:solidFill>
            <a:srgbClr val="0D2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62432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Primary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Joao Santos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017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joao.santos@email.com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+351 912 000 000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566160"/>
            <a:ext cx="1280160" cy="274320"/>
          </a:xfrm>
          <a:prstGeom prst="roundRect">
            <a:avLst>
              <a:gd name="adj" fmla="val 8000"/>
            </a:avLst>
          </a:prstGeom>
          <a:solidFill>
            <a:srgbClr val="0D2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5844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Score: 72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3566160"/>
            <a:ext cx="1371600" cy="274320"/>
          </a:xfrm>
          <a:prstGeom prst="roundRect">
            <a:avLst>
              <a:gd name="adj" fmla="val 8000"/>
            </a:avLst>
          </a:prstGeom>
          <a:solidFill>
            <a:srgbClr val="0B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3584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6B6D4"/>
                </a:solidFill>
                <a:latin typeface="Segoe UI"/>
              </a:defRPr>
            </a:pPr>
            <a:r>
              <a:t>SHORTLISTED</a:t>
            </a:r>
          </a:p>
        </p:txBody>
      </p:sp>
      <p:sp>
        <p:nvSpPr>
          <p:cNvPr id="24" name="Oval 23"/>
          <p:cNvSpPr/>
          <p:nvPr/>
        </p:nvSpPr>
        <p:spPr>
          <a:xfrm>
            <a:off x="3977639" y="33375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&gt;&lt;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2606040"/>
            <a:ext cx="320040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26280" y="2606040"/>
            <a:ext cx="3200400" cy="54864"/>
          </a:xfrm>
          <a:prstGeom prst="rect">
            <a:avLst/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J. Santos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017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joao.santos@email.com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+351 912 000 000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3566160"/>
            <a:ext cx="1280160" cy="274320"/>
          </a:xfrm>
          <a:prstGeom prst="roundRect">
            <a:avLst>
              <a:gd name="adj" fmla="val 8000"/>
            </a:avLst>
          </a:prstGeom>
          <a:solidFill>
            <a:srgbClr val="2D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35844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59E0B"/>
                </a:solidFill>
                <a:latin typeface="Segoe UI"/>
              </a:defRPr>
            </a:pPr>
            <a:r>
              <a:t>Score: 65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3566160"/>
            <a:ext cx="1371600" cy="274320"/>
          </a:xfrm>
          <a:prstGeom prst="roundRect">
            <a:avLst>
              <a:gd name="adj" fmla="val 8000"/>
            </a:avLst>
          </a:prstGeom>
          <a:solidFill>
            <a:srgbClr val="181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3584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NEW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3977639"/>
            <a:ext cx="2103120" cy="320040"/>
          </a:xfrm>
          <a:prstGeom prst="roundRect">
            <a:avLst>
              <a:gd name="adj" fmla="val 8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3995928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Definir como primario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892040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91947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Fundir em Joao Santos (primario)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41324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O registo duplicado e eliminado. Todos os dados movem para o primario.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897880"/>
            <a:ext cx="7863840" cy="365760"/>
          </a:xfrm>
          <a:prstGeom prst="roundRect">
            <a:avLst>
              <a:gd name="adj" fmla="val 4000"/>
            </a:avLst>
          </a:prstGeom>
          <a:solidFill>
            <a:srgbClr val="1F1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897880"/>
            <a:ext cx="54864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95274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Segoe UI"/>
              </a:defRPr>
            </a:pPr>
            <a:r>
              <a:t>! Ana R. / A. Rodrigues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595274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85% match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6336792"/>
            <a:ext cx="7863840" cy="365760"/>
          </a:xfrm>
          <a:prstGeom prst="roundRect">
            <a:avLst>
              <a:gd name="adj" fmla="val 4000"/>
            </a:avLst>
          </a:prstGeom>
          <a:solidFill>
            <a:srgbClr val="1F1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" y="6336792"/>
            <a:ext cx="54864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639165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Segoe UI"/>
              </a:defRPr>
            </a:pPr>
            <a:r>
              <a:t>! Sofia M. / S. Martins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639165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78% match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61120" y="1371600"/>
            <a:ext cx="5212080" cy="6126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3544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Relatorios e Exportacoes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35440" y="2103120"/>
            <a:ext cx="4663440" cy="91440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35440" y="2103120"/>
            <a:ext cx="73152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09760" y="2194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Exportacao Excel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09760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Lista completa com scores,</a:t>
            </a:r>
            <a:br/>
            <a:r>
              <a:t>status e dados extraidos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2984480" y="2377440"/>
            <a:ext cx="731520" cy="32004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984480" y="2395728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XLSX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35440" y="3200400"/>
            <a:ext cx="4663440" cy="91440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235440" y="3200400"/>
            <a:ext cx="73152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09760" y="3291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Relatorio por Vaga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0976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Ranking de candidatos e</a:t>
            </a:r>
            <a:br/>
            <a:r>
              <a:t>metricas de cada vaga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2984480" y="3474720"/>
            <a:ext cx="731520" cy="32004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984480" y="3493008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XLSX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235440" y="4297679"/>
            <a:ext cx="4663440" cy="91440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235440" y="4297679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09760" y="43891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Audit Log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09760" y="46634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Registo de todas as accoes</a:t>
            </a:r>
            <a:br/>
            <a:r>
              <a:t>sensitivas no sistema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2984480" y="4571999"/>
            <a:ext cx="731520" cy="32004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984480" y="4590287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LOG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235440" y="5394959"/>
            <a:ext cx="4663440" cy="91440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235440" y="5394959"/>
            <a:ext cx="73152" cy="9144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09760" y="548639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Merge History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09760" y="57607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Historico de duplicados</a:t>
            </a:r>
            <a:br/>
            <a:r>
              <a:t>fundidos com actor e data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2984480" y="5669279"/>
            <a:ext cx="731520" cy="320040"/>
          </a:xfrm>
          <a:prstGeom prst="roundRect">
            <a:avLst>
              <a:gd name="adj" fmla="val 10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2984480" y="5687567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LOG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INTEGRACOES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Ecossistema Microsoft 365 e Mais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29184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2918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91640" y="2011680"/>
            <a:ext cx="777240" cy="7772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Microsoft Graph</a:t>
            </a:r>
            <a:br/>
            <a:r>
              <a:t>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4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Sincronizacao bidirecional</a:t>
            </a:r>
            <a:br/>
            <a:r>
              <a:t>de emails com caixa de correio</a:t>
            </a:r>
            <a:br/>
            <a:r>
              <a:t>careers@itsector.pt</a:t>
            </a:r>
            <a:br/>
            <a:br/>
            <a:r>
              <a:t>Mail.Read | Mail.Send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1645920"/>
            <a:ext cx="329184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7639" y="1645920"/>
            <a:ext cx="32918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12079" y="2011680"/>
            <a:ext cx="777240" cy="7772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59" y="3017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Microsoft Graph</a:t>
            </a:r>
            <a:br/>
            <a:r>
              <a:t>Calendar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374904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Agendamento de entrevistas</a:t>
            </a:r>
            <a:br/>
            <a:r>
              <a:t>directamente no M365</a:t>
            </a:r>
            <a:br/>
            <a:br/>
            <a:r>
              <a:t>Calendars.ReadWrite</a:t>
            </a:r>
            <a:br/>
            <a:r>
              <a:t>Convites automaticos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645920"/>
            <a:ext cx="329184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79" y="1645920"/>
            <a:ext cx="32918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32519" y="2011680"/>
            <a:ext cx="777240" cy="7772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399" y="3017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Tesseract.js</a:t>
            </a:r>
            <a:br/>
            <a:r>
              <a:t>OCR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399" y="374904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Reconhecimento de texto</a:t>
            </a:r>
            <a:br/>
            <a:r>
              <a:t>em CVs digitalizados</a:t>
            </a:r>
            <a:br/>
            <a:br/>
            <a:r>
              <a:t>Multiplos idiomas</a:t>
            </a:r>
            <a:br/>
            <a:r>
              <a:t>Fallback automatico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018520" y="1645920"/>
            <a:ext cx="329184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018520" y="1645920"/>
            <a:ext cx="32918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252960" y="2011680"/>
            <a:ext cx="777240" cy="7772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3017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ExcelJS</a:t>
            </a:r>
            <a:br/>
            <a:r>
              <a:t>Exportacao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374904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Geracao de relatorios</a:t>
            </a:r>
            <a:br/>
            <a:r>
              <a:t>Excel com dados completos</a:t>
            </a:r>
            <a:br/>
            <a:r>
              <a:t>de candidatos e metricas</a:t>
            </a:r>
            <a:br/>
            <a:br/>
            <a:r>
              <a:t>Exportacao local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126480"/>
            <a:ext cx="13716000" cy="13716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Segoe UI"/>
              </a:defRPr>
            </a:pPr>
            <a:r>
              <a:t>Inteligencia Artificial (Opcional)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675120"/>
            <a:ext cx="1188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Suporte para OpenAI, Azure OpenAI e Anthropic — para resumos de CV, sugestoes de email e classificacao.</a:t>
            </a:r>
            <a:br/>
            <a:r>
              <a:t>Totalmente opcional: o sistema funciona com heuristicas locais sem API externa.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6355080"/>
            <a:ext cx="1188720" cy="32004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0" y="6373368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OpenAI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0" y="6355080"/>
            <a:ext cx="1188720" cy="32004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0" y="6373368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Azure OpenAI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801600" y="6355080"/>
            <a:ext cx="1188720" cy="32004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0" y="6373368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Anthropic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Stack Moderna, Segura e Escalavel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13716000" cy="1143000"/>
          </a:xfrm>
          <a:prstGeom prst="roundRect">
            <a:avLst>
              <a:gd name="adj" fmla="val 3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842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Next.js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9202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71800" y="1920240"/>
            <a:ext cx="54864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19842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React 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9202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12080" y="192024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19842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Tailwind CSS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9202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1920240"/>
            <a:ext cx="54864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9842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TanStack 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19202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92640" y="192024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19842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Pagination UI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932920" y="19202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30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932920" y="1920240"/>
            <a:ext cx="54864" cy="457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115800" y="19842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Recharts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7040880" y="2560320"/>
            <a:ext cx="274320" cy="182880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" y="2788920"/>
            <a:ext cx="13716000" cy="1143000"/>
          </a:xfrm>
          <a:prstGeom prst="roundRect">
            <a:avLst>
              <a:gd name="adj" fmla="val 3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2880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BACKEND / API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2918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329184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3558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API Routes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71800" y="32918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71800" y="3291840"/>
            <a:ext cx="54864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54680" y="33558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Services Layer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12080" y="32918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12080" y="329184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0" y="33558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Repository Pattern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52360" y="32918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52360" y="3291840"/>
            <a:ext cx="54864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35240" y="33558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TypeScript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92640" y="32918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92640" y="329184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20" y="33558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Zod Validation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932920" y="32918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30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932920" y="3291840"/>
            <a:ext cx="54864" cy="457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115800" y="33558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Rate Limiting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7040880" y="3931920"/>
            <a:ext cx="274320" cy="182880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57200" y="4160520"/>
            <a:ext cx="13716000" cy="1143000"/>
          </a:xfrm>
          <a:prstGeom prst="roundRect">
            <a:avLst>
              <a:gd name="adj" fmla="val 3000"/>
            </a:avLst>
          </a:prstGeom>
          <a:solidFill>
            <a:srgbClr val="142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4160520"/>
            <a:ext cx="54864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4251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SEGURANCA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46634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1520" y="466344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" y="47274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HMAC Sessions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971800" y="46634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971800" y="4663440"/>
            <a:ext cx="54864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54680" y="47274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requireAdmin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212080" y="46634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212080" y="466344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94960" y="47274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requireUser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452360" y="46634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452360" y="4663440"/>
            <a:ext cx="54864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35240" y="47274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5 req/15min Limit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692640" y="46634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92640" y="466344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75520" y="47274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Audit Logging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932920" y="46634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30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932920" y="4663440"/>
            <a:ext cx="54864" cy="457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115800" y="47274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isActive Guard</a:t>
            </a:r>
          </a:p>
        </p:txBody>
      </p:sp>
      <p:sp>
        <p:nvSpPr>
          <p:cNvPr id="67" name="Down Arrow 66"/>
          <p:cNvSpPr/>
          <p:nvPr/>
        </p:nvSpPr>
        <p:spPr>
          <a:xfrm>
            <a:off x="7040880" y="5303520"/>
            <a:ext cx="274320" cy="182880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57200" y="5532120"/>
            <a:ext cx="13716000" cy="1143000"/>
          </a:xfrm>
          <a:prstGeom prst="roundRect">
            <a:avLst>
              <a:gd name="adj" fmla="val 3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" y="5623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SERVICOS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60350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0" y="603504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4400" y="60990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Inbox Sync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971800" y="60350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971800" y="6035040"/>
            <a:ext cx="54864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154680" y="60990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CV Parsing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212080" y="60350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212080" y="603504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394960" y="60990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Scoring Engine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452360" y="60350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452360" y="6035040"/>
            <a:ext cx="54864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635240" y="60990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Duplicate Merge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692640" y="60350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692640" y="603504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875520" y="60990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Email Service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1932920" y="60350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30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1932920" y="6035040"/>
            <a:ext cx="54864" cy="457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2115800" y="60990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Calendar Service</a:t>
            </a:r>
          </a:p>
        </p:txBody>
      </p:sp>
      <p:sp>
        <p:nvSpPr>
          <p:cNvPr id="88" name="Down Arrow 87"/>
          <p:cNvSpPr/>
          <p:nvPr/>
        </p:nvSpPr>
        <p:spPr>
          <a:xfrm>
            <a:off x="7040880" y="6675120"/>
            <a:ext cx="274320" cy="182880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457200" y="6903720"/>
            <a:ext cx="13716000" cy="1143000"/>
          </a:xfrm>
          <a:prstGeom prst="roundRect">
            <a:avLst>
              <a:gd name="adj" fmla="val 3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31520" y="69951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DADOS &amp; STORAGE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31520" y="74066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1520" y="740664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14400" y="74706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SQLite + Prisma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971800" y="74066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971800" y="7406640"/>
            <a:ext cx="54864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154680" y="74706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Filesystem Local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212080" y="74066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212080" y="740664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394960" y="74706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14+ Modelos DB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452360" y="74066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452360" y="7406640"/>
            <a:ext cx="54864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635240" y="74706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DB Indexes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692640" y="74066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692640" y="740664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875520" y="74706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Migrations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1932920" y="74066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30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1932920" y="7406640"/>
            <a:ext cx="54864" cy="457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2115800" y="74706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Seed Data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4 Fases Concluidas — Fase 5 em Planeamento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468880"/>
            <a:ext cx="1280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22402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834640"/>
            <a:ext cx="2651760" cy="46634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834640"/>
            <a:ext cx="26517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FASE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4480" y="2999232"/>
            <a:ext cx="1188720" cy="292608"/>
          </a:xfrm>
          <a:prstGeom prst="roundRect">
            <a:avLst>
              <a:gd name="adj" fmla="val 12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3017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CONCLUIDO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Fundacao ATS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40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Auth + sessoes HMAC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0682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611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Dashboard KPIs reais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274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681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Sync M365 Mail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4807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023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Parsing PDF/DOCX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6869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5229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Motor de scoring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9893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943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Templates + envio Graph</a:t>
            </a:r>
          </a:p>
        </p:txBody>
      </p:sp>
      <p:sp>
        <p:nvSpPr>
          <p:cNvPr id="24" name="Oval 23"/>
          <p:cNvSpPr/>
          <p:nvPr/>
        </p:nvSpPr>
        <p:spPr>
          <a:xfrm>
            <a:off x="4114800" y="22402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08960" y="2834640"/>
            <a:ext cx="2651760" cy="46634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08960" y="2834640"/>
            <a:ext cx="26517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30175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FASE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2999232"/>
            <a:ext cx="1188720" cy="292608"/>
          </a:xfrm>
          <a:prstGeom prst="roundRect">
            <a:avLst>
              <a:gd name="adj" fmla="val 12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017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CONCLUIDO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Produtividade Operacional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3280" y="38862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1880" y="3840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Importacao JSON vagas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430682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11880" y="42611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Bulk actions auditados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3280" y="47274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11880" y="4681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Exportacao Excel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83280" y="514807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11880" y="51023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Indices DB (14+)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83280" y="556869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1880" y="55229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Pipeline view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83280" y="59893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11880" y="5943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Talent Pool matching</a:t>
            </a:r>
          </a:p>
        </p:txBody>
      </p:sp>
      <p:sp>
        <p:nvSpPr>
          <p:cNvPr id="43" name="Oval 42"/>
          <p:cNvSpPr/>
          <p:nvPr/>
        </p:nvSpPr>
        <p:spPr>
          <a:xfrm>
            <a:off x="6949440" y="22402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0" y="2834640"/>
            <a:ext cx="2651760" cy="46634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43600" y="2834640"/>
            <a:ext cx="26517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0" y="30175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FASE 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23760" y="2999232"/>
            <a:ext cx="1188720" cy="292608"/>
          </a:xfrm>
          <a:prstGeom prst="roundRect">
            <a:avLst>
              <a:gd name="adj" fmla="val 12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0" y="3017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CONCLUIDO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UX &amp; Admin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38862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3840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Timeline unificada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0" y="430682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42611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Notas estruturadas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47274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4681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Admin users toggle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0" y="514807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51023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Role guards (req/admin)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556869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46520" y="55229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Candidate detail completo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20" y="59893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46520" y="5943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Audit log actor</a:t>
            </a:r>
          </a:p>
        </p:txBody>
      </p:sp>
      <p:sp>
        <p:nvSpPr>
          <p:cNvPr id="62" name="Oval 61"/>
          <p:cNvSpPr/>
          <p:nvPr/>
        </p:nvSpPr>
        <p:spPr>
          <a:xfrm>
            <a:off x="9784080" y="22402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778240" y="2834640"/>
            <a:ext cx="2651760" cy="46634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778240" y="2834640"/>
            <a:ext cx="26517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61120" y="30175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FASE 4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058400" y="2999232"/>
            <a:ext cx="1188720" cy="292608"/>
          </a:xfrm>
          <a:prstGeom prst="roundRect">
            <a:avLst>
              <a:gd name="adj" fmla="val 12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58400" y="3017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CONCLUIDO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6112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Seguranca &amp; Qualidade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052560" y="38862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281160" y="3840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Rate limiting login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052560" y="430682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281160" y="42611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Pagination controls URL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052560" y="47274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281160" y="4681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Duplicate merge UI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052560" y="514807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281160" y="51023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Merge API hardened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052560" y="556869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281160" y="55229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Retry-After headers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052560" y="59893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281160" y="5943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isActive guard</a:t>
            </a:r>
          </a:p>
        </p:txBody>
      </p:sp>
      <p:sp>
        <p:nvSpPr>
          <p:cNvPr id="81" name="Oval 80"/>
          <p:cNvSpPr/>
          <p:nvPr/>
        </p:nvSpPr>
        <p:spPr>
          <a:xfrm>
            <a:off x="12618720" y="224028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1612880" y="2834640"/>
            <a:ext cx="2651760" cy="46634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1612880" y="2834640"/>
            <a:ext cx="26517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795760" y="30175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FASE 5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2893040" y="2999232"/>
            <a:ext cx="1188720" cy="292608"/>
          </a:xfrm>
          <a:prstGeom prst="roundRect">
            <a:avLst>
              <a:gd name="adj" fmla="val 12000"/>
            </a:avLst>
          </a:prstGeom>
          <a:solidFill>
            <a:srgbClr val="3D2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2893040" y="3017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59E0B"/>
                </a:solidFill>
                <a:latin typeface="Segoe UI"/>
              </a:defRPr>
            </a:pPr>
            <a:r>
              <a:t>PLANEADO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79576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Cobertura Completa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1887200" y="38862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2115800" y="3840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CV upload manual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1887200" y="430682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2115800" y="42611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Template CRUD UI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1887200" y="47274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2115800" y="4681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Relatorios charts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1887200" y="514807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2115800" y="51023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Auth em todas as APIs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1887200" y="556869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2115800" y="55229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Calendar interview UI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1887200" y="59893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2115800" y="5943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Settings editor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2743200"/>
            <a:ext cx="10972800" cy="10972800"/>
          </a:xfrm>
          <a:prstGeom prst="ellipse">
            <a:avLst/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2743200"/>
            <a:ext cx="9144000" cy="9144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87680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800" y="0"/>
            <a:ext cx="4876805" cy="73152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600" y="0"/>
            <a:ext cx="487680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 Light"/>
              </a:defRPr>
            </a:pPr>
            <a:r>
              <a:t>Pronto para Transformar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6B6D4"/>
                </a:solidFill>
                <a:latin typeface="Segoe UI Light"/>
              </a:defRPr>
            </a:pPr>
            <a:r>
              <a:t>o Recrutamento?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384048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206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O ITSector Talent Inbox ATS v2 esta pronto para implementacao imediata.</a:t>
            </a:r>
            <a:br/>
            <a:r>
              <a:t>4 Fases completas. 100% local. Seguro. Inteligente.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6B6D4"/>
                </a:solidFill>
                <a:latin typeface="Segoe UI"/>
              </a:defRPr>
            </a:pPr>
            <a:r>
              <a:t>19+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852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Funcionalidades</a:t>
            </a:r>
            <a:br/>
            <a:r>
              <a:t>Completas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6B6D4"/>
                </a:solidFill>
                <a:latin typeface="Segoe UI"/>
              </a:defRPr>
            </a:pPr>
            <a:r>
              <a:t>14+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852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Modelos de</a:t>
            </a:r>
            <a:br/>
            <a:r>
              <a:t>Dados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6B6D4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5852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Fases</a:t>
            </a:r>
            <a:br/>
            <a:r>
              <a:t>Concluidas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6B6D4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5852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Local</a:t>
            </a:r>
            <a:br/>
            <a:r>
              <a:t>&amp; Seguro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6675120"/>
            <a:ext cx="4572000" cy="64008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67208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Comecar Agora  &gt;&gt;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749807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ITSector  |  careers@itsector.pt  |  Talent Inbox ATS  v2.0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