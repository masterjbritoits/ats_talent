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1828800"/>
            <a:ext cx="9144000" cy="91440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3657600"/>
            <a:ext cx="7315200" cy="7315200"/>
          </a:xfrm>
          <a:prstGeom prst="ellipse">
            <a:avLst/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87680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800" y="0"/>
            <a:ext cx="4876805" cy="73152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600" y="0"/>
            <a:ext cx="487680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71600" y="2011680"/>
            <a:ext cx="3291840" cy="41148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02996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 Semibold"/>
              </a:defRPr>
            </a:pPr>
            <a:r>
              <a:t>PLATAFORMA ATS  |  v2.0  |  Fase 4 Completa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7432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Segoe UI Light"/>
              </a:defRPr>
            </a:pPr>
            <a:r>
              <a:t>ITSector Talent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661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06B6D4"/>
                </a:solidFill>
                <a:latin typeface="Segoe UI Light"/>
              </a:defRPr>
            </a:pPr>
            <a:r>
              <a:t>Inbox 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754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BD5E1"/>
                </a:solidFill>
                <a:latin typeface="Segoe UI"/>
              </a:defRPr>
            </a:pPr>
            <a:r>
              <a:t>Sistema Inteligente de Gestao de Candidaturas e Recrutamento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5577840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5852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Transformar emails em talento. Automaticamente.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6675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Segoe UI"/>
              </a:defRPr>
            </a:pPr>
            <a:r>
              <a:t>19+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6995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Funcionalidades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6675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Segoe UI"/>
              </a:defRPr>
            </a:pPr>
            <a:r>
              <a:t>M365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6995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Integracao Nativa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6675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6995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Local &amp; Seguro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8092440"/>
            <a:ext cx="487680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76800" y="8092440"/>
            <a:ext cx="4876805" cy="137160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753600" y="8092440"/>
            <a:ext cx="487680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0" y="7818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1/17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O DESAFIO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Light"/>
              </a:defRPr>
            </a:pPr>
            <a:r>
              <a:t>O Recrutamento Tradicional por Email Nao Escala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292608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286000"/>
            <a:ext cx="2926080" cy="5486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011680" y="2651760"/>
            <a:ext cx="640080" cy="64008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474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Emails Perdidos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0233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Candidaturas enterradas na caixa</a:t>
            </a:r>
            <a:br/>
            <a:r>
              <a:t>de entrada sem rastreamento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2286000"/>
            <a:ext cx="292608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2286000"/>
            <a:ext cx="29260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303520" y="265176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474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CVs Manuais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40233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Leitura manual de dezenas de CVs</a:t>
            </a:r>
            <a:br/>
            <a:r>
              <a:t>por dia sem normalizacao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2286000"/>
            <a:ext cx="292608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98079" y="2286000"/>
            <a:ext cx="292608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595359" y="2651760"/>
            <a:ext cx="640080" cy="6400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#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399" y="3474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Sem Ranking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399" y="40233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Impossivel comparar candidatos</a:t>
            </a:r>
            <a:br/>
            <a:r>
              <a:t>objectivamente entre vagas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789920" y="2286000"/>
            <a:ext cx="292608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789920" y="2286000"/>
            <a:ext cx="2926080" cy="5486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887200" y="2651760"/>
            <a:ext cx="640080" cy="64008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3474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Tempo Perdido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40233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Horas gastas em tarefas repetitivas</a:t>
            </a:r>
            <a:br/>
            <a:r>
              <a:t>que podiam ser automatizadas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6217920"/>
            <a:ext cx="12801600" cy="1097280"/>
          </a:xfrm>
          <a:prstGeom prst="roundRect">
            <a:avLst>
              <a:gd name="adj" fmla="val 3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64008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06B6D4"/>
                </a:solidFill>
                <a:latin typeface="Segoe UI"/>
              </a:defRPr>
            </a:pPr>
            <a:r>
              <a:t>67%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6446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Segoe UI"/>
              </a:defRPr>
            </a:pPr>
            <a:r>
              <a:t>dos recrutadores afirmam perder candidatos qualificados devido a processos manuais desorganizados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8092440"/>
            <a:ext cx="487680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76800" y="8092440"/>
            <a:ext cx="4876805" cy="137160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753600" y="8092440"/>
            <a:ext cx="487680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00" y="7818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2/17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A SOLUCAO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Light"/>
              </a:defRPr>
            </a:pPr>
            <a:r>
              <a:t>De Email a Contratacao - Tudo Automatizado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246888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286000"/>
            <a:ext cx="24688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25880" y="2560320"/>
            <a:ext cx="640080" cy="6400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383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Email Recebido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8404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Sincronizacao</a:t>
            </a:r>
            <a:br/>
            <a:r>
              <a:t>automatica M365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926080" y="3383280"/>
            <a:ext cx="320040" cy="27432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46120" y="2286000"/>
            <a:ext cx="246888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2286000"/>
            <a:ext cx="246888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14800" y="2560320"/>
            <a:ext cx="640080" cy="6400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383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CV Processado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8404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Parsing PDF/DOCX</a:t>
            </a:r>
            <a:br/>
            <a:r>
              <a:t>e extracao de dados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715000" y="3383280"/>
            <a:ext cx="320040" cy="27432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35040" y="2286000"/>
            <a:ext cx="246888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2286000"/>
            <a:ext cx="24688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903720" y="256032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3383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Candidato Criado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38404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Perfil normalizado</a:t>
            </a:r>
            <a:br/>
            <a:r>
              <a:t>com competencias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503920" y="3383280"/>
            <a:ext cx="320040" cy="27432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823959" y="2286000"/>
            <a:ext cx="246888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23959" y="2286000"/>
            <a:ext cx="246888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92639" y="2560320"/>
            <a:ext cx="640080" cy="6400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19" y="3383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Score Calculado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19" y="38404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Avaliacao heuristica</a:t>
            </a:r>
            <a:br/>
            <a:r>
              <a:t>por vaga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1292839" y="3383280"/>
            <a:ext cx="320040" cy="27432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1612880" y="2286000"/>
            <a:ext cx="246888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612880" y="2286000"/>
            <a:ext cx="24688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2481560" y="256032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750040" y="3383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Decisao Tomada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50040" y="38404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Avancar, Rever</a:t>
            </a:r>
            <a:br/>
            <a:r>
              <a:t>ou Rejeitar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5760720"/>
            <a:ext cx="12801600" cy="1645920"/>
          </a:xfrm>
          <a:prstGeom prst="roundRect">
            <a:avLst>
              <a:gd name="adj" fmla="val 3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594360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Segoe UI"/>
              </a:defRPr>
            </a:pPr>
            <a:r>
              <a:t>Resultado: Zero Trabalho Manual na Triagem Inicial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649224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O sistema processa automaticamente cada email, extrai informacao dos CVs, cria perfis de candidatos,</a:t>
            </a:r>
            <a:br/>
            <a:r>
              <a:t>calcula pontuacoes de adequacao e recomenda accoes - tudo em segundos.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8092440"/>
            <a:ext cx="487680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876800" y="8092440"/>
            <a:ext cx="4876805" cy="137160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753600" y="8092440"/>
            <a:ext cx="487680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716000" y="7818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3/17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 Light"/>
              </a:defRPr>
            </a:pPr>
            <a:r>
              <a:t>Visao Geral em Tempo Real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3716000" cy="6400800"/>
          </a:xfrm>
          <a:prstGeom prst="roundRect">
            <a:avLst>
              <a:gd name="adj" fmla="val 2000"/>
            </a:avLst>
          </a:prstGeom>
          <a:solidFill>
            <a:srgbClr val="0B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286000" cy="6400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Segoe UI"/>
              </a:defRPr>
            </a:pPr>
            <a:r>
              <a:t>ITSector ATS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2286000" cy="365760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470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585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Inbox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700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Candidatos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81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Vagas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930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Talent Pool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044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Templates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3159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Relatorios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7274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Definicoes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17520" y="1645920"/>
            <a:ext cx="2377440" cy="1371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0" y="18745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B82F6"/>
                </a:solidFill>
                <a:latin typeface="Segoe UI"/>
              </a:defRPr>
            </a:pPr>
            <a:r>
              <a:t>312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2423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Total Candidatos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23560" y="1645920"/>
            <a:ext cx="2377440" cy="1371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23560" y="18745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0B981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60" y="2423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Vagas Abertas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1645920"/>
            <a:ext cx="2377440" cy="1371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18745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423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Em Revisao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35640" y="1645920"/>
            <a:ext cx="2377440" cy="1371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835640" y="18745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6B6D4"/>
                </a:solidFill>
                <a:latin typeface="Segoe UI"/>
              </a:defRPr>
            </a:pPr>
            <a:r>
              <a:t>92%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2423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Taxa Processamento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17520" y="3291840"/>
            <a:ext cx="5029200" cy="292608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3383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BD5E1"/>
                </a:solidFill>
                <a:latin typeface="Segoe UI"/>
              </a:defRPr>
            </a:pPr>
            <a:r>
              <a:t>Candidaturas por Vaga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38862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.NET Dev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0" y="3922776"/>
            <a:ext cx="2880360" cy="201168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91840" y="4270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React Dev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0" y="4306824"/>
            <a:ext cx="2304288" cy="201168"/>
          </a:xfrm>
          <a:prstGeom prst="roundRect">
            <a:avLst>
              <a:gd name="adj" fmla="val 2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91840" y="465429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QA Engineer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0" y="4690872"/>
            <a:ext cx="1536192" cy="201168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91840" y="50383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DevOps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0" y="5074920"/>
            <a:ext cx="1856231" cy="201168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91840" y="54223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Power Apps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0" y="5458968"/>
            <a:ext cx="1216152" cy="201168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91840" y="58064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Mobile Dev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0" y="5843016"/>
            <a:ext cx="1408176" cy="201168"/>
          </a:xfrm>
          <a:prstGeom prst="roundRect">
            <a:avLst>
              <a:gd name="adj" fmla="val 20000"/>
            </a:avLst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321040" y="3291840"/>
            <a:ext cx="5577840" cy="292608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95360" y="3383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BD5E1"/>
                </a:solidFill>
                <a:latin typeface="Segoe UI"/>
              </a:defRPr>
            </a:pPr>
            <a:r>
              <a:t>Actividade Recente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03920" y="3840480"/>
            <a:ext cx="109728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78240" y="37947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Duplicado fundido: Joao Santos (2 registos)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03920" y="4224528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78240" y="417880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Candidato criado: Ana Rodrigues (React Dev)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03920" y="4608576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78240" y="456285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Score: Pedro Almeida - 91/100 -&gt; AVANCAR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03920" y="4992624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78240" y="494690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Entrevista agendada: Maria Silva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503920" y="5376672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78240" y="533095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Exportacao Excel: 312 candidatos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03920" y="5760720"/>
            <a:ext cx="109728" cy="10972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78240" y="57150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Vaga publicada: DevOps Engineer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017520" y="6400800"/>
            <a:ext cx="10881360" cy="109728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9184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BD5E1"/>
                </a:solidFill>
                <a:latin typeface="Segoe UI"/>
              </a:defRPr>
            </a:pPr>
            <a:r>
              <a:t>Pipeline de Recrutamento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200400" y="6812280"/>
            <a:ext cx="1554480" cy="548640"/>
          </a:xfrm>
          <a:prstGeom prst="roundRect">
            <a:avLst>
              <a:gd name="adj" fmla="val 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00400" y="68122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52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00400" y="706831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Novo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983480" y="6812280"/>
            <a:ext cx="1554480" cy="548640"/>
          </a:xfrm>
          <a:prstGeom prst="roundRect">
            <a:avLst>
              <a:gd name="adj" fmla="val 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983480" y="68122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983480" y="706831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Revisao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766560" y="6812280"/>
            <a:ext cx="1554480" cy="548640"/>
          </a:xfrm>
          <a:prstGeom prst="roundRect">
            <a:avLst>
              <a:gd name="adj" fmla="val 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766560" y="68122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66560" y="706831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Shortlist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549640" y="6812280"/>
            <a:ext cx="1554480" cy="548640"/>
          </a:xfrm>
          <a:prstGeom prst="roundRect">
            <a:avLst>
              <a:gd name="adj" fmla="val 5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549640" y="68122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49640" y="706831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Entrevista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332720" y="6812280"/>
            <a:ext cx="1554480" cy="548640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332720" y="68122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332720" y="706831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Oferta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2115800" y="6812280"/>
            <a:ext cx="1554480" cy="548640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2115800" y="68122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2115800" y="706831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Contratado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8092440"/>
            <a:ext cx="487680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876800" y="8092440"/>
            <a:ext cx="4876805" cy="137160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753600" y="8092440"/>
            <a:ext cx="487680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3716000" y="7818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4/17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INBOX INTELIGENTE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 Light"/>
              </a:defRPr>
            </a:pPr>
            <a:r>
              <a:t>Sincronizacao Automatica com Microsoft 365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3716000" cy="6217920"/>
          </a:xfrm>
          <a:prstGeom prst="roundRect">
            <a:avLst>
              <a:gd name="adj" fmla="val 2000"/>
            </a:avLst>
          </a:prstGeom>
          <a:solidFill>
            <a:srgbClr val="0B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286000" cy="6400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Segoe UI"/>
              </a:defRPr>
            </a:pPr>
            <a:r>
              <a:t>ITSector 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470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40280"/>
            <a:ext cx="2286000" cy="365760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585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Inbox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700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Candidatos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81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Vagas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930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Talent Pool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044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Templates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3159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Relatorios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7274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Definicoes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Inbox - careers@itsector.pt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0" y="1508760"/>
            <a:ext cx="2286000" cy="45720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0" y="153619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Sincronizar Agora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17520" y="2103120"/>
            <a:ext cx="10972800" cy="411480"/>
          </a:xfrm>
          <a:prstGeom prst="roundRect">
            <a:avLst>
              <a:gd name="adj" fmla="val 5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21214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B981"/>
                </a:solidFill>
                <a:latin typeface="Segoe UI"/>
              </a:defRPr>
            </a:pPr>
            <a:r>
              <a:t>Ultima sincronizacao: ha 3 minutos  |  29 emails processados  |  11 novos candidatos criados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17520" y="2697480"/>
            <a:ext cx="10972800" cy="54864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17520" y="2697480"/>
            <a:ext cx="54864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27432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Maria Silva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27432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Candidatura - .NET Developer Senior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27432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14:32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344400" y="2788920"/>
            <a:ext cx="1188720" cy="292608"/>
          </a:xfrm>
          <a:prstGeom prst="roundRect">
            <a:avLst>
              <a:gd name="adj" fmla="val 15000"/>
            </a:avLst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44400" y="280720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0B981"/>
                </a:solidFill>
                <a:latin typeface="Segoe UI"/>
              </a:defRPr>
            </a:pPr>
            <a:r>
              <a:t>CV Processado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17520" y="3291840"/>
            <a:ext cx="10972800" cy="548640"/>
          </a:xfrm>
          <a:prstGeom prst="roundRect">
            <a:avLst>
              <a:gd name="adj" fmla="val 2000"/>
            </a:avLst>
          </a:prstGeom>
          <a:solidFill>
            <a:srgbClr val="17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017520" y="3291840"/>
            <a:ext cx="54864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91840" y="33375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Joao Santos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33375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Candidatura React Developer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0" y="33375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13:45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2344400" y="3383280"/>
            <a:ext cx="1188720" cy="292608"/>
          </a:xfrm>
          <a:prstGeom prst="roundRect">
            <a:avLst>
              <a:gd name="adj" fmla="val 15000"/>
            </a:avLst>
          </a:prstGeom>
          <a:solidFill>
            <a:srgbClr val="3D27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344400" y="34015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9E0B"/>
                </a:solidFill>
                <a:latin typeface="Segoe UI"/>
              </a:defRPr>
            </a:pPr>
            <a:r>
              <a:t>Em Analise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17520" y="3886200"/>
            <a:ext cx="10972800" cy="54864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017520" y="3886200"/>
            <a:ext cx="54864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91840" y="3931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Ana Costa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0" y="39319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Re: Oportunidade QA Engineer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0" y="39319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12:20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2344400" y="3977640"/>
            <a:ext cx="1188720" cy="292608"/>
          </a:xfrm>
          <a:prstGeom prst="roundRect">
            <a:avLst>
              <a:gd name="adj" fmla="val 15000"/>
            </a:avLst>
          </a:prstGeom>
          <a:solidFill>
            <a:srgbClr val="0E2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44400" y="39959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B82F6"/>
                </a:solidFill>
                <a:latin typeface="Segoe UI"/>
              </a:defRPr>
            </a:pPr>
            <a:r>
              <a:t>Novo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017520" y="4480560"/>
            <a:ext cx="10972800" cy="548640"/>
          </a:xfrm>
          <a:prstGeom prst="roundRect">
            <a:avLst>
              <a:gd name="adj" fmla="val 2000"/>
            </a:avLst>
          </a:prstGeom>
          <a:solidFill>
            <a:srgbClr val="17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017520" y="4480560"/>
            <a:ext cx="54864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91840" y="4526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Pedro Almeida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20640" y="45262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Candidatura Espontanea - DevOps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30000" y="45262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11:05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2344400" y="4572000"/>
            <a:ext cx="1188720" cy="292608"/>
          </a:xfrm>
          <a:prstGeom prst="roundRect">
            <a:avLst>
              <a:gd name="adj" fmla="val 15000"/>
            </a:avLst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344400" y="459028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0B981"/>
                </a:solidFill>
                <a:latin typeface="Segoe UI"/>
              </a:defRPr>
            </a:pPr>
            <a:r>
              <a:t>CV Processado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017520" y="5074920"/>
            <a:ext cx="10972800" cy="54864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91840" y="51206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Newsletter SAPO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20640" y="51206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Tech News Semanal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430000" y="51206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10:30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2344400" y="5166360"/>
            <a:ext cx="1188720" cy="292608"/>
          </a:xfrm>
          <a:prstGeom prst="roundRect">
            <a:avLst>
              <a:gd name="adj" fmla="val 15000"/>
            </a:avLst>
          </a:prstGeom>
          <a:solidFill>
            <a:srgbClr val="25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2344400" y="518464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94A3B8"/>
                </a:solidFill>
                <a:latin typeface="Segoe UI"/>
              </a:defRPr>
            </a:pPr>
            <a:r>
              <a:t>Ignorado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017520" y="5669280"/>
            <a:ext cx="10972800" cy="548640"/>
          </a:xfrm>
          <a:prstGeom prst="roundRect">
            <a:avLst>
              <a:gd name="adj" fmla="val 2000"/>
            </a:avLst>
          </a:prstGeom>
          <a:solidFill>
            <a:srgbClr val="17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017520" y="5669280"/>
            <a:ext cx="54864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91840" y="57150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Sofia Martins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20640" y="57150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Interesse vaga Power Apps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430000" y="57150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09:15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2344400" y="5760720"/>
            <a:ext cx="1188720" cy="292608"/>
          </a:xfrm>
          <a:prstGeom prst="roundRect">
            <a:avLst>
              <a:gd name="adj" fmla="val 15000"/>
            </a:avLst>
          </a:prstGeom>
          <a:solidFill>
            <a:srgbClr val="0E2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2344400" y="577900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B82F6"/>
                </a:solidFill>
                <a:latin typeface="Segoe UI"/>
              </a:defRPr>
            </a:pPr>
            <a:r>
              <a:t>Novo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017520" y="6263640"/>
            <a:ext cx="10972800" cy="54864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017520" y="6263640"/>
            <a:ext cx="54864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91840" y="63093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Carlos Ferreira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20640" y="63093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CV em anexo - Mobile Developer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430000" y="63093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08:40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2344400" y="6355080"/>
            <a:ext cx="1188720" cy="292608"/>
          </a:xfrm>
          <a:prstGeom prst="roundRect">
            <a:avLst>
              <a:gd name="adj" fmla="val 15000"/>
            </a:avLst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2344400" y="63733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0B981"/>
                </a:solidFill>
                <a:latin typeface="Segoe UI"/>
              </a:defRPr>
            </a:pPr>
            <a:r>
              <a:t>CV Processado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200400" y="7086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B981"/>
                </a:solidFill>
                <a:latin typeface="Segoe UI"/>
              </a:defRPr>
            </a:pPr>
            <a:r>
              <a:t>Verde = Candidatura Detectada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00800" y="7086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Cinza = Email Ignorado (nao-candidatura)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8092440"/>
            <a:ext cx="487680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876800" y="8092440"/>
            <a:ext cx="4876805" cy="137160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753600" y="8092440"/>
            <a:ext cx="487680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3716000" y="7818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5/17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GESTAO DE CANDIDATOS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Light"/>
              </a:defRPr>
            </a:pPr>
            <a:r>
              <a:t>Pipeline com Filtros, Paginacao e Revisao de Duplicados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3716000" cy="6217920"/>
          </a:xfrm>
          <a:prstGeom prst="roundRect">
            <a:avLst>
              <a:gd name="adj" fmla="val 2000"/>
            </a:avLst>
          </a:prstGeom>
          <a:solidFill>
            <a:srgbClr val="0B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286000" cy="6400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Segoe UI"/>
              </a:defRPr>
            </a:pPr>
            <a:r>
              <a:t>ITSector 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470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585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Inbox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51760"/>
            <a:ext cx="2286000" cy="365760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700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Candidatos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81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Vagas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930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Talent Pool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044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Templates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3159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Relatorios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7274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Definicoes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Candidate Pipeline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0" y="1463040"/>
            <a:ext cx="2286000" cy="41148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0" y="1490472"/>
            <a:ext cx="22860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Accoes em Massa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17520" y="1965960"/>
            <a:ext cx="10972800" cy="365760"/>
          </a:xfrm>
          <a:prstGeom prst="roundRect">
            <a:avLst>
              <a:gd name="adj" fmla="val 4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200400" y="2029968"/>
            <a:ext cx="2286000" cy="237744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203911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Segoe UI"/>
              </a:defRPr>
            </a:pPr>
            <a:r>
              <a:t>Status: Todos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52160" y="2029968"/>
            <a:ext cx="2286000" cy="237744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0" y="203911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Segoe UI"/>
              </a:defRPr>
            </a:pPr>
            <a:r>
              <a:t>Vaga: Todas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03920" y="2029968"/>
            <a:ext cx="2286000" cy="237744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0" y="203911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Segoe UI"/>
              </a:defRPr>
            </a:pPr>
            <a:r>
              <a:t>Score: 0+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155680" y="2029968"/>
            <a:ext cx="2286000" cy="237744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247119" y="203911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Segoe UI"/>
              </a:defRPr>
            </a:pPr>
            <a:r>
              <a:t>Ordenar: Score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17520" y="2423160"/>
            <a:ext cx="10972800" cy="320040"/>
          </a:xfrm>
          <a:prstGeom prst="roundRect">
            <a:avLst>
              <a:gd name="adj" fmla="val 3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08960" y="244144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#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441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Nome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79" y="2441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Vaga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244144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Score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24414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Status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24414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Accao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17520" y="2788920"/>
            <a:ext cx="10972800" cy="402336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108960" y="2898648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37560" y="284378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11880" y="28437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Maria Silva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97880" y="28437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.NET Developer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38160" y="2852928"/>
            <a:ext cx="685800" cy="256032"/>
          </a:xfrm>
          <a:prstGeom prst="roundRect">
            <a:avLst>
              <a:gd name="adj" fmla="val 10000"/>
            </a:avLst>
          </a:prstGeom>
          <a:solidFill>
            <a:srgbClr val="0325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38160" y="2871216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91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69680" y="2852928"/>
            <a:ext cx="1005840" cy="256032"/>
          </a:xfrm>
          <a:prstGeom prst="roundRect">
            <a:avLst>
              <a:gd name="adj" fmla="val 10000"/>
            </a:avLst>
          </a:prstGeom>
          <a:solidFill>
            <a:srgbClr val="01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69680" y="2871216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6B6D4"/>
                </a:solidFill>
                <a:latin typeface="Segoe UI"/>
              </a:defRPr>
            </a:pPr>
            <a:r>
              <a:t>SHORTLISTED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017520" y="3227832"/>
            <a:ext cx="10972800" cy="402336"/>
          </a:xfrm>
          <a:prstGeom prst="roundRect">
            <a:avLst>
              <a:gd name="adj" fmla="val 2000"/>
            </a:avLst>
          </a:prstGeom>
          <a:solidFill>
            <a:srgbClr val="17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108960" y="3337560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37560" y="328269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11880" y="328269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Pedro Almeida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97880" y="328269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DevOps Engineer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38160" y="3291840"/>
            <a:ext cx="685800" cy="256032"/>
          </a:xfrm>
          <a:prstGeom prst="roundRect">
            <a:avLst>
              <a:gd name="adj" fmla="val 10000"/>
            </a:avLst>
          </a:prstGeom>
          <a:solidFill>
            <a:srgbClr val="0325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38160" y="3310128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84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869680" y="3291840"/>
            <a:ext cx="1005840" cy="256032"/>
          </a:xfrm>
          <a:prstGeom prst="roundRect">
            <a:avLst>
              <a:gd name="adj" fmla="val 10000"/>
            </a:avLst>
          </a:prstGeom>
          <a:solidFill>
            <a:srgbClr val="01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869680" y="3310128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6B6D4"/>
                </a:solidFill>
                <a:latin typeface="Segoe UI"/>
              </a:defRPr>
            </a:pPr>
            <a:r>
              <a:t>SHORTLISTED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017520" y="3666744"/>
            <a:ext cx="10972800" cy="402336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3108960" y="3776472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337560" y="372160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11880" y="37216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Joao Santos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97880" y="37216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React Developer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138160" y="3730752"/>
            <a:ext cx="685800" cy="256032"/>
          </a:xfrm>
          <a:prstGeom prst="roundRect">
            <a:avLst>
              <a:gd name="adj" fmla="val 10000"/>
            </a:avLst>
          </a:prstGeom>
          <a:solidFill>
            <a:srgbClr val="311F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38160" y="3749040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76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869680" y="3730752"/>
            <a:ext cx="1005840" cy="256032"/>
          </a:xfrm>
          <a:prstGeom prst="roundRect">
            <a:avLst>
              <a:gd name="adj" fmla="val 10000"/>
            </a:avLst>
          </a:prstGeom>
          <a:solidFill>
            <a:srgbClr val="311F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869680" y="3749040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59E0B"/>
                </a:solidFill>
                <a:latin typeface="Segoe UI"/>
              </a:defRPr>
            </a:pPr>
            <a:r>
              <a:t>MANUAL_REVIEW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017520" y="4105656"/>
            <a:ext cx="10972800" cy="402336"/>
          </a:xfrm>
          <a:prstGeom prst="roundRect">
            <a:avLst>
              <a:gd name="adj" fmla="val 2000"/>
            </a:avLst>
          </a:prstGeom>
          <a:solidFill>
            <a:srgbClr val="17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3108960" y="4215384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337560" y="41605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11880" y="4160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Ana Costa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897880" y="4160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QA Engineer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138160" y="4169664"/>
            <a:ext cx="685800" cy="256032"/>
          </a:xfrm>
          <a:prstGeom prst="roundRect">
            <a:avLst>
              <a:gd name="adj" fmla="val 10000"/>
            </a:avLst>
          </a:prstGeom>
          <a:solidFill>
            <a:srgbClr val="311F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138160" y="4187952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68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869680" y="4169664"/>
            <a:ext cx="1005840" cy="256032"/>
          </a:xfrm>
          <a:prstGeom prst="roundRect">
            <a:avLst>
              <a:gd name="adj" fmla="val 10000"/>
            </a:avLst>
          </a:prstGeom>
          <a:solidFill>
            <a:srgbClr val="311F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869680" y="4187952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59E0B"/>
                </a:solidFill>
                <a:latin typeface="Segoe UI"/>
              </a:defRPr>
            </a:pPr>
            <a:r>
              <a:t>MANUAL_REVIEW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017520" y="4544568"/>
            <a:ext cx="10972800" cy="402336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3108960" y="4654296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337560" y="459943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611880" y="45994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Sofia Martins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897880" y="45994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Power Apps Dev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138160" y="4608576"/>
            <a:ext cx="685800" cy="256032"/>
          </a:xfrm>
          <a:prstGeom prst="roundRect">
            <a:avLst>
              <a:gd name="adj" fmla="val 10000"/>
            </a:avLst>
          </a:prstGeom>
          <a:solidFill>
            <a:srgbClr val="0B1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138160" y="4626864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B82F6"/>
                </a:solidFill>
                <a:latin typeface="Segoe UI"/>
              </a:defRPr>
            </a:pPr>
            <a:r>
              <a:t>59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869680" y="4608576"/>
            <a:ext cx="1005840" cy="256032"/>
          </a:xfrm>
          <a:prstGeom prst="roundRect">
            <a:avLst>
              <a:gd name="adj" fmla="val 10000"/>
            </a:avLst>
          </a:prstGeom>
          <a:solidFill>
            <a:srgbClr val="0B1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869680" y="4626864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B82F6"/>
                </a:solidFill>
                <a:latin typeface="Segoe UI"/>
              </a:defRPr>
            </a:pPr>
            <a:r>
              <a:t>NEW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017520" y="4983479"/>
            <a:ext cx="10972800" cy="402336"/>
          </a:xfrm>
          <a:prstGeom prst="roundRect">
            <a:avLst>
              <a:gd name="adj" fmla="val 2000"/>
            </a:avLst>
          </a:prstGeom>
          <a:solidFill>
            <a:srgbClr val="17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3108960" y="5093207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337560" y="5038343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611880" y="5038343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Carlos Ferreira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897880" y="5038343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Mobile Developer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138160" y="5047487"/>
            <a:ext cx="685800" cy="256032"/>
          </a:xfrm>
          <a:prstGeom prst="roundRect">
            <a:avLst>
              <a:gd name="adj" fmla="val 10000"/>
            </a:avLst>
          </a:prstGeom>
          <a:solidFill>
            <a:srgbClr val="0B1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138160" y="5065775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B82F6"/>
                </a:solidFill>
                <a:latin typeface="Segoe UI"/>
              </a:defRPr>
            </a:pPr>
            <a:r>
              <a:t>52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8869680" y="5047487"/>
            <a:ext cx="1005840" cy="256032"/>
          </a:xfrm>
          <a:prstGeom prst="roundRect">
            <a:avLst>
              <a:gd name="adj" fmla="val 10000"/>
            </a:avLst>
          </a:prstGeom>
          <a:solidFill>
            <a:srgbClr val="0B1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869680" y="5065775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B82F6"/>
                </a:solidFill>
                <a:latin typeface="Segoe UI"/>
              </a:defRPr>
            </a:pPr>
            <a:r>
              <a:t>NEW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3017520" y="5440680"/>
            <a:ext cx="10972800" cy="411480"/>
          </a:xfrm>
          <a:prstGeom prst="roundRect">
            <a:avLst>
              <a:gd name="adj" fmla="val 3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291840" y="5486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312 candidatos no total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9601200" y="5486400"/>
            <a:ext cx="438912" cy="292608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601200" y="5495544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&lt;&lt; 1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10104120" y="5486400"/>
            <a:ext cx="438912" cy="292608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104120" y="5495544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&lt; 1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0607040" y="5486400"/>
            <a:ext cx="438912" cy="292608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607040" y="5495544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11109960" y="5486400"/>
            <a:ext cx="438912" cy="292608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1109960" y="5495544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2 &gt;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1612880" y="5486400"/>
            <a:ext cx="438912" cy="292608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1612880" y="5495544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3 &gt;&gt;&gt;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3017520" y="5989320"/>
            <a:ext cx="10972800" cy="594360"/>
          </a:xfrm>
          <a:prstGeom prst="roundRect">
            <a:avLst>
              <a:gd name="adj" fmla="val 4000"/>
            </a:avLst>
          </a:prstGeom>
          <a:solidFill>
            <a:srgbClr val="2D1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017520" y="5989320"/>
            <a:ext cx="54864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200400" y="60350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Segoe UI"/>
              </a:defRPr>
            </a:pPr>
            <a:r>
              <a:t>! Fila de Revisao de Duplicados  —  3 grupos detectados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200400" y="630936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Confianca 90%+  |  Telefone e email coincidentes  |  Expandir para fundir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12984480" y="6080760"/>
            <a:ext cx="777240" cy="36576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2984480" y="6099048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Rever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0" y="8092440"/>
            <a:ext cx="487680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4876800" y="8092440"/>
            <a:ext cx="4876805" cy="137160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753600" y="8092440"/>
            <a:ext cx="487680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3716000" y="7818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6/17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PROCESSAMENTO DE CVs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 Light"/>
              </a:defRPr>
            </a:pPr>
            <a:r>
              <a:t>Extracao Inteligente de Curriculos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4572000" cy="59436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Segoe UI"/>
              </a:defRPr>
            </a:pPr>
            <a:r>
              <a:t>curriculum_vitae.pdf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148840"/>
            <a:ext cx="384048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MARIA SILVA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5603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Segoe UI"/>
              </a:defRPr>
            </a:pPr>
            <a:r>
              <a:t>Senior .NET Developer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83464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Segoe UI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1188720" y="310896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EXPERIENCIA PROFISSIONAL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3832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Segoe UI"/>
              </a:defRPr>
            </a:pPr>
            <a:r>
              <a:t>- ITSector (2019-presente) - .NET Developer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6576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Segoe UI"/>
              </a:defRPr>
            </a:pPr>
            <a:r>
              <a:t>- BNP Paribas (2016-2019) - Software Engineer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9319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Segoe UI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1188720" y="420624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COMPETENCIAS TECNICAS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48056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Segoe UI"/>
              </a:defRPr>
            </a:pPr>
            <a:r>
              <a:t>C#, .NET Core, Azure, SQL Server, Docker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754879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Segoe UI"/>
              </a:defRPr>
            </a:pPr>
            <a:r>
              <a:t>REST APIs, Microservices, CI/CD, Git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0292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Segoe UI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188720" y="53035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IDIOMAS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57784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Segoe UI"/>
              </a:defRPr>
            </a:pPr>
            <a:r>
              <a:t>Portugues (Nativo), Ingles (Fluente)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85216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Segoe UI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1188720" y="61264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FORMACAO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64008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Segoe UI"/>
              </a:defRPr>
            </a:pPr>
            <a:r>
              <a:t>MSc Engenharia Informatica - IST (2016)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486400" y="3840480"/>
            <a:ext cx="1097280" cy="54864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0" y="44805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6B6D4"/>
                </a:solidFill>
                <a:latin typeface="Segoe UI"/>
              </a:defRPr>
            </a:pPr>
            <a:r>
              <a:t>Parsing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0" y="1554480"/>
            <a:ext cx="6858000" cy="59436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Dados Extraidos Automaticamente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2286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Nome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22860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6B6D4"/>
                </a:solidFill>
                <a:latin typeface="Segoe UI"/>
              </a:defRPr>
            </a:pPr>
            <a:r>
              <a:t>Maria Silva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27157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Titulo Actual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271576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6B6D4"/>
                </a:solidFill>
                <a:latin typeface="Segoe UI"/>
              </a:defRPr>
            </a:pPr>
            <a:r>
              <a:t>Senior .NET Developer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314553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Localizacao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314553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6B6D4"/>
                </a:solidFill>
                <a:latin typeface="Segoe UI"/>
              </a:defRPr>
            </a:pPr>
            <a:r>
              <a:t>Lisboa, Portugal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357530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Anos Experiencia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357530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6B6D4"/>
                </a:solidFill>
                <a:latin typeface="Segoe UI"/>
              </a:defRPr>
            </a:pPr>
            <a:r>
              <a:t>8 anos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40050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Skills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400507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B981"/>
                </a:solidFill>
                <a:latin typeface="Segoe UI"/>
              </a:defRPr>
            </a:pPr>
            <a:r>
              <a:t>["C#", ".NET Core", "Azure", "Docker"]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4434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Idiomas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44348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B981"/>
                </a:solidFill>
                <a:latin typeface="Segoe UI"/>
              </a:defRPr>
            </a:pPr>
            <a:r>
              <a:t>["Portugues (Nativo)", "Ingles (Fluente)"]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48646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Educacao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486460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B981"/>
                </a:solidFill>
                <a:latin typeface="Segoe UI"/>
              </a:defRPr>
            </a:pPr>
            <a:r>
              <a:t>["MSc Eng. Informatica - IST 2016"]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0" y="529437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Experiencia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529437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B981"/>
                </a:solidFill>
                <a:latin typeface="Segoe UI"/>
              </a:defRPr>
            </a:pPr>
            <a:r>
              <a:t>["ITSector 2019-2025", "BNP Paribas 2016-19"]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0" y="572414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LinkedIn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0" y="572414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B82F6"/>
                </a:solidFill>
                <a:latin typeface="Segoe UI"/>
              </a:defRPr>
            </a:pPr>
            <a:r>
              <a:t>linkedin.com/in/maria-silva-dev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23760" y="61539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Email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615391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B82F6"/>
                </a:solidFill>
                <a:latin typeface="Segoe UI"/>
              </a:defRPr>
            </a:pPr>
            <a:r>
              <a:t>maria.silva@gmail.com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23760" y="658367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Confianca Parser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26880" y="658367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B981"/>
                </a:solidFill>
                <a:latin typeface="Segoe UI"/>
              </a:defRPr>
            </a:pPr>
            <a:r>
              <a:t>94%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132320" y="6583680"/>
            <a:ext cx="6217920" cy="640080"/>
          </a:xfrm>
          <a:prstGeom prst="roundRect">
            <a:avLst>
              <a:gd name="adj" fmla="val 5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498079" y="6720840"/>
            <a:ext cx="1097280" cy="36576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98079" y="673912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PDF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961119" y="6720840"/>
            <a:ext cx="1097280" cy="36576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961119" y="673912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DOCX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424159" y="6720840"/>
            <a:ext cx="1097280" cy="365760"/>
          </a:xfrm>
          <a:prstGeom prst="roundRect">
            <a:avLst>
              <a:gd name="adj" fmla="val 1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424159" y="673912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DOC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887200" y="6720840"/>
            <a:ext cx="1097280" cy="365760"/>
          </a:xfrm>
          <a:prstGeom prst="roundRect">
            <a:avLst>
              <a:gd name="adj" fmla="val 1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887200" y="673912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OCR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8092440"/>
            <a:ext cx="487680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876800" y="8092440"/>
            <a:ext cx="4876805" cy="137160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753600" y="8092440"/>
            <a:ext cx="487680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3716000" y="7818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7/17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MOTOR DE SCORING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 Light"/>
              </a:defRPr>
            </a:pPr>
            <a:r>
              <a:t>Avaliacao Objectiva e Configuravel</a:t>
            </a:r>
          </a:p>
        </p:txBody>
      </p:sp>
      <p:sp>
        <p:nvSpPr>
          <p:cNvPr id="4" name="Oval 3"/>
          <p:cNvSpPr/>
          <p:nvPr/>
        </p:nvSpPr>
        <p:spPr>
          <a:xfrm>
            <a:off x="1828800" y="2743200"/>
            <a:ext cx="2743200" cy="2743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103120" y="3017520"/>
            <a:ext cx="2194560" cy="219456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80" y="365760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43891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pontos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03720" y="1645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Skills Obrigatorias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184708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Match com requisitos da vaga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0" y="1719072"/>
            <a:ext cx="274320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515600" y="1719072"/>
            <a:ext cx="2743200" cy="128016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350240" y="16459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B82F6"/>
                </a:solidFill>
                <a:latin typeface="Segoe UI"/>
              </a:defRPr>
            </a:pPr>
            <a:r>
              <a:t>30 pts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2402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3720" y="22402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Anos Experiencia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44144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Adequacao ao nivel exigido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0" y="2313432"/>
            <a:ext cx="274320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515600" y="2313432"/>
            <a:ext cx="1371600" cy="128016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350240" y="22402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15 pts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8346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03720" y="2834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Skills Opcionais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303580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Competencias diferenciadoras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15600" y="2907792"/>
            <a:ext cx="274320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515600" y="2907792"/>
            <a:ext cx="914400" cy="128016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350240" y="28346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10 pts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4290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03720" y="34290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Idiomas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363016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Correspondencia linguistica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515600" y="3502152"/>
            <a:ext cx="274320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515600" y="3502152"/>
            <a:ext cx="914400" cy="128016"/>
          </a:xfrm>
          <a:prstGeom prst="roundRect">
            <a:avLst>
              <a:gd name="adj" fmla="val 3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350240" y="34290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8B5CF6"/>
                </a:solidFill>
                <a:latin typeface="Segoe UI"/>
              </a:defRPr>
            </a:pPr>
            <a:r>
              <a:t>10 pts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40233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03720" y="40233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Titulo/Senioridade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422452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Relevancia funcional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515600" y="4096512"/>
            <a:ext cx="274320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515600" y="4096512"/>
            <a:ext cx="914400" cy="128016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350240" y="40233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10 pts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46177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03720" y="46177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Dominio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481888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Experiencia no sector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515600" y="4690872"/>
            <a:ext cx="274320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515600" y="4690872"/>
            <a:ext cx="914400" cy="128016"/>
          </a:xfrm>
          <a:prstGeom prst="roundRect">
            <a:avLst>
              <a:gd name="adj" fmla="val 30000"/>
            </a:avLst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350240" y="46177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43F5E"/>
                </a:solidFill>
                <a:latin typeface="Segoe UI"/>
              </a:defRPr>
            </a:pPr>
            <a:r>
              <a:t>10 pts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0" y="52120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03720" y="52120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Localizacao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03720" y="541324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Proximidade geografica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515600" y="5285232"/>
            <a:ext cx="274320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0515600" y="5285232"/>
            <a:ext cx="457200" cy="128016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350240" y="5212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5 pts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800" y="58064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03720" y="58064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Qualidade CV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3720" y="600760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Completude do curriculo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515600" y="5879592"/>
            <a:ext cx="274320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10515600" y="5879592"/>
            <a:ext cx="457200" cy="128016"/>
          </a:xfrm>
          <a:prstGeom prst="roundRect">
            <a:avLst>
              <a:gd name="adj" fmla="val 30000"/>
            </a:avLst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350240" y="58064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5 pts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00800" y="64008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03720" y="64008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Factor Recrutador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03720" y="660196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Ajuste manual do recruiter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515600" y="6473952"/>
            <a:ext cx="274320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10515600" y="6473952"/>
            <a:ext cx="457200" cy="128016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335024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B82F6"/>
                </a:solidFill>
                <a:latin typeface="Segoe UI"/>
              </a:defRPr>
            </a:pPr>
            <a:r>
              <a:t>5 pts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31520" y="6675120"/>
            <a:ext cx="13167360" cy="822960"/>
          </a:xfrm>
          <a:prstGeom prst="roundRect">
            <a:avLst>
              <a:gd name="adj" fmla="val 3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914400" y="6766560"/>
            <a:ext cx="731520" cy="54864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14400" y="6793992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75+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828800" y="6766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AVANCAR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28800" y="702259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Auto-avanco para entrevista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303520" y="6766560"/>
            <a:ext cx="731520" cy="54864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303520" y="6793992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45-74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17920" y="6766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Segoe UI"/>
              </a:defRPr>
            </a:pPr>
            <a:r>
              <a:t>REVISAO MANUAL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17920" y="702259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Requer decisao do recrutador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692640" y="6766560"/>
            <a:ext cx="731520" cy="548640"/>
          </a:xfrm>
          <a:prstGeom prst="roundRect">
            <a:avLst>
              <a:gd name="adj" fmla="val 10000"/>
            </a:avLst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692640" y="6793992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&lt;45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607040" y="6766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3F5E"/>
                </a:solidFill>
                <a:latin typeface="Segoe UI"/>
              </a:defRPr>
            </a:pPr>
            <a:r>
              <a:t>REJEITAR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607040" y="702259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Abaixo do minimo para a vaga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8092440"/>
            <a:ext cx="487680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876800" y="8092440"/>
            <a:ext cx="4876805" cy="137160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753600" y="8092440"/>
            <a:ext cx="487680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3716000" y="7818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8/17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GESTAO DE VAGAS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 Light"/>
              </a:defRPr>
            </a:pPr>
            <a:r>
              <a:t>Vagas com Ranking Automatico de Candidatos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3291840" cy="27432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329184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.NET Developer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Tecnologia | Lisboa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914400" cy="256032"/>
          </a:xfrm>
          <a:prstGeom prst="roundRect">
            <a:avLst>
              <a:gd name="adj" fmla="val 15000"/>
            </a:avLst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386584"/>
            <a:ext cx="914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0B981"/>
                </a:solidFill>
                <a:latin typeface="Segoe UI"/>
              </a:defRPr>
            </a:pPr>
            <a:r>
              <a:t>ABERTA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346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92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candidatos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8328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3410712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1560" y="3410712"/>
            <a:ext cx="1911095" cy="128016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63931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3666744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51560" y="3666744"/>
            <a:ext cx="1569110" cy="128016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895344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1560" y="3922776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51560" y="3922776"/>
            <a:ext cx="1247241" cy="128016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977639" y="1554480"/>
            <a:ext cx="3291840" cy="27432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977639" y="1554480"/>
            <a:ext cx="329184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51959" y="1737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Senior .NET Developer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59" y="2057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Tecnologia | Porto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51959" y="2377440"/>
            <a:ext cx="914400" cy="256032"/>
          </a:xfrm>
          <a:prstGeom prst="roundRect">
            <a:avLst>
              <a:gd name="adj" fmla="val 15000"/>
            </a:avLst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51959" y="2386584"/>
            <a:ext cx="914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0B981"/>
                </a:solidFill>
                <a:latin typeface="Segoe UI"/>
              </a:defRPr>
            </a:pPr>
            <a:r>
              <a:t>ABERTA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59" y="28346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66359" y="292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candidatos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1959" y="338328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1999" y="3410712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571999" y="3410712"/>
            <a:ext cx="1911095" cy="128016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51959" y="363931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1999" y="3666744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571999" y="3666744"/>
            <a:ext cx="1569110" cy="128016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51959" y="3895344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1999" y="3922776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571999" y="3922776"/>
            <a:ext cx="1247241" cy="128016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498079" y="1554480"/>
            <a:ext cx="3291840" cy="27432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498079" y="1554480"/>
            <a:ext cx="329184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399" y="1737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React Developer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399" y="2057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Frontend | Remoto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399" y="2377440"/>
            <a:ext cx="914400" cy="256032"/>
          </a:xfrm>
          <a:prstGeom prst="roundRect">
            <a:avLst>
              <a:gd name="adj" fmla="val 15000"/>
            </a:avLst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399" y="2386584"/>
            <a:ext cx="914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0B981"/>
                </a:solidFill>
                <a:latin typeface="Segoe UI"/>
              </a:defRPr>
            </a:pPr>
            <a:r>
              <a:t>ABERTA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399" y="28346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799" y="292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candidatos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399" y="338328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#1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92439" y="3410712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092439" y="3410712"/>
            <a:ext cx="1911095" cy="128016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399" y="363931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#2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92439" y="3666744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092439" y="3666744"/>
            <a:ext cx="1569110" cy="128016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72399" y="3895344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#3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092439" y="3922776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092439" y="3922776"/>
            <a:ext cx="1247241" cy="128016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1018520" y="1554480"/>
            <a:ext cx="3291840" cy="27432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1018520" y="1554480"/>
            <a:ext cx="329184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292840" y="1737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Power Apps Developer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292840" y="2057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Low Code | Lisboa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1292840" y="2377440"/>
            <a:ext cx="914400" cy="256032"/>
          </a:xfrm>
          <a:prstGeom prst="roundRect">
            <a:avLst>
              <a:gd name="adj" fmla="val 15000"/>
            </a:avLst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1292840" y="2386584"/>
            <a:ext cx="914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0B981"/>
                </a:solidFill>
                <a:latin typeface="Segoe UI"/>
              </a:defRPr>
            </a:pPr>
            <a:r>
              <a:t>ABERTA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292840" y="28346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207240" y="292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candidatos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292840" y="338328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#1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1612880" y="3410712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1612880" y="3410712"/>
            <a:ext cx="1911095" cy="128016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292840" y="363931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#2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1612880" y="3666744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11612880" y="3666744"/>
            <a:ext cx="1569110" cy="128016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292840" y="3895344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#3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1612880" y="3922776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11612880" y="3922776"/>
            <a:ext cx="1247241" cy="128016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457200" y="4572000"/>
            <a:ext cx="3291840" cy="27432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57200" y="4572000"/>
            <a:ext cx="329184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31520" y="4754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Business Analyst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31520" y="5074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Consultoria | Lisboa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31520" y="5394960"/>
            <a:ext cx="914400" cy="256032"/>
          </a:xfrm>
          <a:prstGeom prst="roundRect">
            <a:avLst>
              <a:gd name="adj" fmla="val 15000"/>
            </a:avLst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31520" y="5404104"/>
            <a:ext cx="914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0B981"/>
                </a:solidFill>
                <a:latin typeface="Segoe UI"/>
              </a:defRPr>
            </a:pPr>
            <a:r>
              <a:t>ABERTA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1520" y="58521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645920" y="5943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candidatos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1520" y="640080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#1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051560" y="6428232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1051560" y="6428232"/>
            <a:ext cx="1911095" cy="128016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31520" y="665683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#2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051560" y="6684264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1051560" y="6684264"/>
            <a:ext cx="1569110" cy="128016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31520" y="6912864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#3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1051560" y="6940296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1051560" y="6940296"/>
            <a:ext cx="1247241" cy="128016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3977639" y="4572000"/>
            <a:ext cx="3291840" cy="27432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977639" y="4572000"/>
            <a:ext cx="329184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251959" y="4754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QA Engineer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251959" y="5074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Qualidade | Porto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251959" y="5394960"/>
            <a:ext cx="914400" cy="256032"/>
          </a:xfrm>
          <a:prstGeom prst="roundRect">
            <a:avLst>
              <a:gd name="adj" fmla="val 15000"/>
            </a:avLst>
          </a:prstGeom>
          <a:solidFill>
            <a:srgbClr val="3D27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251959" y="5404104"/>
            <a:ext cx="914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59E0B"/>
                </a:solidFill>
                <a:latin typeface="Segoe UI"/>
              </a:defRPr>
            </a:pPr>
            <a:r>
              <a:t>PAUSADA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251959" y="58521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166359" y="5943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candidatos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251959" y="640080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#1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4571999" y="6428232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4571999" y="6428232"/>
            <a:ext cx="1911095" cy="128016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251959" y="665683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#2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4571999" y="6684264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4571999" y="6684264"/>
            <a:ext cx="1569110" cy="128016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251959" y="6912864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#3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4571999" y="6940296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4571999" y="6940296"/>
            <a:ext cx="1247241" cy="128016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7498079" y="4572000"/>
            <a:ext cx="3291840" cy="27432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7498079" y="4572000"/>
            <a:ext cx="329184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772399" y="4754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DevOps Engineer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772399" y="5074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Infra | Remoto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7772399" y="5394960"/>
            <a:ext cx="914400" cy="256032"/>
          </a:xfrm>
          <a:prstGeom prst="roundRect">
            <a:avLst>
              <a:gd name="adj" fmla="val 15000"/>
            </a:avLst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772399" y="5404104"/>
            <a:ext cx="914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0B981"/>
                </a:solidFill>
                <a:latin typeface="Segoe UI"/>
              </a:defRPr>
            </a:pPr>
            <a:r>
              <a:t>ABERTA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772399" y="58521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686799" y="5943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candidatos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772399" y="640080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#1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8092439" y="6428232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8092439" y="6428232"/>
            <a:ext cx="1911095" cy="128016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772399" y="665683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#2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8092439" y="6684264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8092439" y="6684264"/>
            <a:ext cx="1569110" cy="128016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772399" y="6912864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#3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8092439" y="6940296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ounded Rectangle 121"/>
          <p:cNvSpPr/>
          <p:nvPr/>
        </p:nvSpPr>
        <p:spPr>
          <a:xfrm>
            <a:off x="8092439" y="6940296"/>
            <a:ext cx="1247241" cy="128016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ounded Rectangle 122"/>
          <p:cNvSpPr/>
          <p:nvPr/>
        </p:nvSpPr>
        <p:spPr>
          <a:xfrm>
            <a:off x="11018520" y="4572000"/>
            <a:ext cx="3291840" cy="27432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1018520" y="4572000"/>
            <a:ext cx="3291840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1292840" y="4754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Mobile Developer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1292840" y="5074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Mobile | Lisboa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11292840" y="5394960"/>
            <a:ext cx="914400" cy="256032"/>
          </a:xfrm>
          <a:prstGeom prst="roundRect">
            <a:avLst>
              <a:gd name="adj" fmla="val 15000"/>
            </a:avLst>
          </a:prstGeom>
          <a:solidFill>
            <a:srgbClr val="25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1292840" y="5404104"/>
            <a:ext cx="914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94A3B8"/>
                </a:solidFill>
                <a:latin typeface="Segoe UI"/>
              </a:defRPr>
            </a:pPr>
            <a:r>
              <a:t>RASCUNHO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1292840" y="58521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2207240" y="5943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candidatos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1292840" y="640080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#1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11612880" y="6428232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11612880" y="6428232"/>
            <a:ext cx="1911095" cy="128016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1292840" y="665683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#2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11612880" y="6684264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ounded Rectangle 135"/>
          <p:cNvSpPr/>
          <p:nvPr/>
        </p:nvSpPr>
        <p:spPr>
          <a:xfrm>
            <a:off x="11612880" y="6684264"/>
            <a:ext cx="1569110" cy="128016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1292840" y="6912864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#3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11612880" y="6940296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ounded Rectangle 138"/>
          <p:cNvSpPr/>
          <p:nvPr/>
        </p:nvSpPr>
        <p:spPr>
          <a:xfrm>
            <a:off x="11612880" y="6940296"/>
            <a:ext cx="1247241" cy="128016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0" y="8092440"/>
            <a:ext cx="487680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4876800" y="8092440"/>
            <a:ext cx="4876805" cy="137160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9753600" y="8092440"/>
            <a:ext cx="487680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3716000" y="7818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9/17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COMUNICACAO INTEGRADA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 Light"/>
              </a:defRPr>
            </a:pPr>
            <a:r>
              <a:t>Templates, Emails e Agendamento de Entrevistas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6583680" cy="59436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Templates de Email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6035040" cy="731520"/>
          </a:xfrm>
          <a:prstGeom prst="roundRect">
            <a:avLst>
              <a:gd name="adj" fmla="val 3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73152" cy="7315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591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Convite para Entrevista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334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Agenda automaticamente via M365 Calendar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2468880"/>
            <a:ext cx="914400" cy="320040"/>
          </a:xfrm>
          <a:prstGeom prst="roundRect">
            <a:avLst>
              <a:gd name="adj" fmla="val 1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248716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Usar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54680"/>
            <a:ext cx="6035040" cy="731520"/>
          </a:xfrm>
          <a:prstGeom prst="roundRect">
            <a:avLst>
              <a:gd name="adj" fmla="val 3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154680"/>
            <a:ext cx="73152" cy="7315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2278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Rejeicao Profissional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5021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Resposta respeitosa com feedback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3337560"/>
            <a:ext cx="914400" cy="320040"/>
          </a:xfrm>
          <a:prstGeom prst="roundRect">
            <a:avLst>
              <a:gd name="adj" fmla="val 10000"/>
            </a:avLst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335584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Usar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023360"/>
            <a:ext cx="6035040" cy="731520"/>
          </a:xfrm>
          <a:prstGeom prst="roundRect">
            <a:avLst>
              <a:gd name="adj" fmla="val 3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023360"/>
            <a:ext cx="73152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0965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Proposta/Oferta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3708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Template com detalhes da posicao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0" y="4206240"/>
            <a:ext cx="914400" cy="32004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0" y="422452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Usar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892040"/>
            <a:ext cx="6035040" cy="731520"/>
          </a:xfrm>
          <a:prstGeom prst="roundRect">
            <a:avLst>
              <a:gd name="adj" fmla="val 3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892040"/>
            <a:ext cx="73152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9651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Pedido de Informacao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2395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Solicitar dados adicionais ao candidato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0" y="5074920"/>
            <a:ext cx="914400" cy="32004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0" y="509320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Usar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760720"/>
            <a:ext cx="6035040" cy="731520"/>
          </a:xfrm>
          <a:prstGeom prst="roundRect">
            <a:avLst>
              <a:gd name="adj" fmla="val 3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" y="5760720"/>
            <a:ext cx="73152" cy="7315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58338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Boas-vindas Talent Pool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61081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Informar inclusao no talent pool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0" y="5943600"/>
            <a:ext cx="914400" cy="320040"/>
          </a:xfrm>
          <a:prstGeom prst="roundRect">
            <a:avLst>
              <a:gd name="adj" fmla="val 1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0" y="596188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Usar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98079" y="1463040"/>
            <a:ext cx="6583680" cy="59436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Compor Email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2286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Para: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86800" y="2286000"/>
            <a:ext cx="5029200" cy="365760"/>
          </a:xfrm>
          <a:prstGeom prst="roundRect">
            <a:avLst>
              <a:gd name="adj" fmla="val 5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69680" y="23134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maria.silva@gmail.com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2834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Assunto: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86800" y="2834640"/>
            <a:ext cx="5029200" cy="365760"/>
          </a:xfrm>
          <a:prstGeom prst="roundRect">
            <a:avLst>
              <a:gd name="adj" fmla="val 5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69680" y="28620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Convite para Entrevista - .NET Developer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72400" y="3566160"/>
            <a:ext cx="6035040" cy="2743200"/>
          </a:xfrm>
          <a:prstGeom prst="roundRect">
            <a:avLst>
              <a:gd name="adj" fmla="val 5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55279" y="365760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Cara Maria Silva,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55279" y="387705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</a:p>
        </p:txBody>
      </p:sp>
      <p:sp>
        <p:nvSpPr>
          <p:cNvPr id="47" name="TextBox 46"/>
          <p:cNvSpPr txBox="1"/>
          <p:nvPr/>
        </p:nvSpPr>
        <p:spPr>
          <a:xfrm>
            <a:off x="7955279" y="409651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Temos o prazer de a convidar para uma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55279" y="4315968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entrevista relativa a posicao de .NET Developer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55279" y="4535424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na ITSector.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55279" y="475488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</a:p>
        </p:txBody>
      </p:sp>
      <p:sp>
        <p:nvSpPr>
          <p:cNvPr id="51" name="TextBox 50"/>
          <p:cNvSpPr txBox="1"/>
          <p:nvPr/>
        </p:nvSpPr>
        <p:spPr>
          <a:xfrm>
            <a:off x="7955279" y="497433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Data: 15 de Maio de 2026, 14:30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55279" y="519379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Local: Escritorio ITSector Lisboa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55279" y="5413248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</a:p>
        </p:txBody>
      </p:sp>
      <p:sp>
        <p:nvSpPr>
          <p:cNvPr id="54" name="TextBox 53"/>
          <p:cNvSpPr txBox="1"/>
          <p:nvPr/>
        </p:nvSpPr>
        <p:spPr>
          <a:xfrm>
            <a:off x="7955279" y="5632704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Aguardamos a sua confirmacao.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55279" y="585216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Com os melhores cumprimentos,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55279" y="607161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Equipa de Recrutamento ITSector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2070080" y="6583680"/>
            <a:ext cx="1645920" cy="45720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2070080" y="661111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Enviar via M365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241280" y="6583680"/>
            <a:ext cx="1645920" cy="457200"/>
          </a:xfrm>
          <a:prstGeom prst="roundRect">
            <a:avLst>
              <a:gd name="adj" fmla="val 1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241280" y="661111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Agendar M365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8092440"/>
            <a:ext cx="487680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876800" y="8092440"/>
            <a:ext cx="4876805" cy="137160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753600" y="8092440"/>
            <a:ext cx="487680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3716000" y="7818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10/17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TALENT POOL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 Light"/>
              </a:defRPr>
            </a:pPr>
            <a:r>
              <a:t>Base de Talento Reutilizavel para Futuras Oportunidades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Candidatos qualificados que nao encaixam na vaga actual sao preservados para futuras oportunidades.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658368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658368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2286000"/>
            <a:ext cx="640080" cy="6400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286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Ana Rodrigues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560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React Developer Junior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7889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6B6D4"/>
                </a:solidFill>
                <a:latin typeface="Segoe UI"/>
              </a:defRPr>
            </a:pPr>
            <a:r>
              <a:t>Score: 58 (Near-Fit QA)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54680"/>
            <a:ext cx="1005840" cy="274320"/>
          </a:xfrm>
          <a:prstGeom prst="roundRect">
            <a:avLst>
              <a:gd name="adj" fmla="val 15000"/>
            </a:avLst>
          </a:prstGeom>
          <a:solidFill>
            <a:srgbClr val="01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1729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6B6D4"/>
                </a:solidFill>
                <a:latin typeface="Segoe UI"/>
              </a:defRPr>
            </a:pPr>
            <a:r>
              <a:t>React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20240" y="3154680"/>
            <a:ext cx="1005840" cy="274320"/>
          </a:xfrm>
          <a:prstGeom prst="roundRect">
            <a:avLst>
              <a:gd name="adj" fmla="val 15000"/>
            </a:avLst>
          </a:prstGeom>
          <a:solidFill>
            <a:srgbClr val="01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0240" y="31729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6B6D4"/>
                </a:solidFill>
                <a:latin typeface="Segoe UI"/>
              </a:defRPr>
            </a:pPr>
            <a:r>
              <a:t>TypeScript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08960" y="3154680"/>
            <a:ext cx="1005840" cy="274320"/>
          </a:xfrm>
          <a:prstGeom prst="roundRect">
            <a:avLst>
              <a:gd name="adj" fmla="val 15000"/>
            </a:avLst>
          </a:prstGeom>
          <a:solidFill>
            <a:srgbClr val="01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0" y="31729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6B6D4"/>
                </a:solidFill>
                <a:latin typeface="Segoe UI"/>
              </a:defRPr>
            </a:pPr>
            <a:r>
              <a:t>Node.js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611880"/>
            <a:ext cx="5943600" cy="457200"/>
          </a:xfrm>
          <a:prstGeom prst="roundRect">
            <a:avLst>
              <a:gd name="adj" fmla="val 4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657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B981"/>
                </a:solidFill>
                <a:latin typeface="Segoe UI"/>
              </a:defRPr>
            </a:pPr>
            <a:r>
              <a:t>Sugestao: React Developer (quando abrir junior)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2011680"/>
            <a:ext cx="658368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98079" y="2011680"/>
            <a:ext cx="658368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72399" y="2286000"/>
            <a:ext cx="640080" cy="6400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BM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59" y="2286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Bruno Mendes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59" y="2560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DevOps Engineer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59" y="27889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5CF6"/>
                </a:solidFill>
                <a:latin typeface="Segoe UI"/>
              </a:defRPr>
            </a:pPr>
            <a:r>
              <a:t>Score: 62 (Near-Fit)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399" y="3154680"/>
            <a:ext cx="1005840" cy="274320"/>
          </a:xfrm>
          <a:prstGeom prst="roundRect">
            <a:avLst>
              <a:gd name="adj" fmla="val 15000"/>
            </a:avLst>
          </a:prstGeom>
          <a:solidFill>
            <a:srgbClr val="221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399" y="31729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5CF6"/>
                </a:solidFill>
                <a:latin typeface="Segoe UI"/>
              </a:defRPr>
            </a:pPr>
            <a:r>
              <a:t>AWS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61119" y="3154680"/>
            <a:ext cx="1005840" cy="274320"/>
          </a:xfrm>
          <a:prstGeom prst="roundRect">
            <a:avLst>
              <a:gd name="adj" fmla="val 15000"/>
            </a:avLst>
          </a:prstGeom>
          <a:solidFill>
            <a:srgbClr val="221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19" y="31729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5CF6"/>
                </a:solidFill>
                <a:latin typeface="Segoe UI"/>
              </a:defRPr>
            </a:pPr>
            <a:r>
              <a:t>Terraform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49839" y="3154680"/>
            <a:ext cx="1005840" cy="274320"/>
          </a:xfrm>
          <a:prstGeom prst="roundRect">
            <a:avLst>
              <a:gd name="adj" fmla="val 15000"/>
            </a:avLst>
          </a:prstGeom>
          <a:solidFill>
            <a:srgbClr val="221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39" y="31729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5CF6"/>
                </a:solidFill>
                <a:latin typeface="Segoe UI"/>
              </a:defRPr>
            </a:pPr>
            <a:r>
              <a:t>K8s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399" y="3611880"/>
            <a:ext cx="5943600" cy="457200"/>
          </a:xfrm>
          <a:prstGeom prst="roundRect">
            <a:avLst>
              <a:gd name="adj" fmla="val 4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79" y="3657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B981"/>
                </a:solidFill>
                <a:latin typeface="Segoe UI"/>
              </a:defRPr>
            </a:pPr>
            <a:r>
              <a:t>Sugestao: Proxima vaga Cloud/Infra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572000"/>
            <a:ext cx="658368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4572000"/>
            <a:ext cx="658368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31520" y="484632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54480" y="4846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Carla Dias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54480" y="51206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Business Analyst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54480" y="5349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9E0B"/>
                </a:solidFill>
                <a:latin typeface="Segoe UI"/>
              </a:defRPr>
            </a:pPr>
            <a:r>
              <a:t>Score: 71 (Revisao Manual)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5715000"/>
            <a:ext cx="1005840" cy="274320"/>
          </a:xfrm>
          <a:prstGeom prst="roundRect">
            <a:avLst>
              <a:gd name="adj" fmla="val 15000"/>
            </a:avLst>
          </a:prstGeom>
          <a:solidFill>
            <a:srgbClr val="3D27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73328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59E0B"/>
                </a:solidFill>
                <a:latin typeface="Segoe UI"/>
              </a:defRPr>
            </a:pPr>
            <a:r>
              <a:t>BPMN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920240" y="5715000"/>
            <a:ext cx="1005840" cy="274320"/>
          </a:xfrm>
          <a:prstGeom prst="roundRect">
            <a:avLst>
              <a:gd name="adj" fmla="val 15000"/>
            </a:avLst>
          </a:prstGeom>
          <a:solidFill>
            <a:srgbClr val="3D27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920240" y="573328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59E0B"/>
                </a:solidFill>
                <a:latin typeface="Segoe UI"/>
              </a:defRPr>
            </a:pPr>
            <a:r>
              <a:t>SQL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108960" y="5715000"/>
            <a:ext cx="1005840" cy="274320"/>
          </a:xfrm>
          <a:prstGeom prst="roundRect">
            <a:avLst>
              <a:gd name="adj" fmla="val 15000"/>
            </a:avLst>
          </a:prstGeom>
          <a:solidFill>
            <a:srgbClr val="3D27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08960" y="573328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59E0B"/>
                </a:solidFill>
                <a:latin typeface="Segoe UI"/>
              </a:defRPr>
            </a:pPr>
            <a:r>
              <a:t>Power BI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6172200"/>
            <a:ext cx="5943600" cy="457200"/>
          </a:xfrm>
          <a:prstGeom prst="roundRect">
            <a:avLst>
              <a:gd name="adj" fmla="val 4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" y="6217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B981"/>
                </a:solidFill>
                <a:latin typeface="Segoe UI"/>
              </a:defRPr>
            </a:pPr>
            <a:r>
              <a:t>Sugestao: Rever quando abrir BA Senior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498079" y="4572000"/>
            <a:ext cx="658368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498079" y="4572000"/>
            <a:ext cx="658368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772399" y="484632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DS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95359" y="4846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Daniel Sousa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95359" y="51206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Full-Stack Developer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59" y="5349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B981"/>
                </a:solidFill>
                <a:latin typeface="Segoe UI"/>
              </a:defRPr>
            </a:pPr>
            <a:r>
              <a:t>Candidatura Espontanea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772399" y="5715000"/>
            <a:ext cx="1005840" cy="274320"/>
          </a:xfrm>
          <a:prstGeom prst="roundRect">
            <a:avLst>
              <a:gd name="adj" fmla="val 15000"/>
            </a:avLst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72399" y="573328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B981"/>
                </a:solidFill>
                <a:latin typeface="Segoe UI"/>
              </a:defRPr>
            </a:pPr>
            <a:r>
              <a:t>.NET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961119" y="5715000"/>
            <a:ext cx="1005840" cy="274320"/>
          </a:xfrm>
          <a:prstGeom prst="roundRect">
            <a:avLst>
              <a:gd name="adj" fmla="val 15000"/>
            </a:avLst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961119" y="573328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B981"/>
                </a:solidFill>
                <a:latin typeface="Segoe UI"/>
              </a:defRPr>
            </a:pPr>
            <a:r>
              <a:t>Angular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149839" y="5715000"/>
            <a:ext cx="1005840" cy="274320"/>
          </a:xfrm>
          <a:prstGeom prst="roundRect">
            <a:avLst>
              <a:gd name="adj" fmla="val 15000"/>
            </a:avLst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149839" y="573328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B981"/>
                </a:solidFill>
                <a:latin typeface="Segoe UI"/>
              </a:defRPr>
            </a:pPr>
            <a:r>
              <a:t>Azure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772399" y="6172200"/>
            <a:ext cx="5943600" cy="457200"/>
          </a:xfrm>
          <a:prstGeom prst="roundRect">
            <a:avLst>
              <a:gd name="adj" fmla="val 4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955279" y="6217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B981"/>
                </a:solidFill>
                <a:latin typeface="Segoe UI"/>
              </a:defRPr>
            </a:pPr>
            <a:r>
              <a:t>Sugestao: Match com .NET Developer ou React Dev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57200" y="7132320"/>
            <a:ext cx="13716000" cy="548640"/>
          </a:xfrm>
          <a:prstGeom prst="roundRect">
            <a:avLst>
              <a:gd name="adj" fmla="val 3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4400" y="717804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O Talent Pool garante que nenhum candidato qualificado se perde. Sugestoes automaticas de vagas futuras maximizam o retorno do pipeline.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8092440"/>
            <a:ext cx="487680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876800" y="8092440"/>
            <a:ext cx="4876805" cy="137160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753600" y="8092440"/>
            <a:ext cx="487680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3716000" y="7818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11/17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QUALIDADE DE DADOS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Light"/>
              </a:defRPr>
            </a:pPr>
            <a:r>
              <a:t>Merge Interactivo de Duplicados — Nova Feature v2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61264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Fila de Revisao de Duplicados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0" y="1481328"/>
            <a:ext cx="914400" cy="292608"/>
          </a:xfrm>
          <a:prstGeom prst="roundRect">
            <a:avLst>
              <a:gd name="adj" fmla="val 12000"/>
            </a:avLst>
          </a:prstGeom>
          <a:solidFill>
            <a:srgbClr val="3D2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0" y="149961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9E0B"/>
                </a:solidFill>
                <a:latin typeface="Segoe UI"/>
              </a:defRPr>
            </a:pPr>
            <a:r>
              <a:t>3 grupos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7863840" cy="502920"/>
          </a:xfrm>
          <a:prstGeom prst="roundRect">
            <a:avLst>
              <a:gd name="adj" fmla="val 4000"/>
            </a:avLst>
          </a:prstGeom>
          <a:solidFill>
            <a:srgbClr val="2A1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65960"/>
            <a:ext cx="54864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! 2 registos duplicados detectados  —  Telefone coincidente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2039112"/>
            <a:ext cx="1097280" cy="256032"/>
          </a:xfrm>
          <a:prstGeom prst="roundRect">
            <a:avLst>
              <a:gd name="adj" fmla="val 12000"/>
            </a:avLst>
          </a:prstGeom>
          <a:solidFill>
            <a:srgbClr val="3D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057400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43F5E"/>
                </a:solidFill>
                <a:latin typeface="Segoe UI"/>
              </a:defRPr>
            </a:pPr>
            <a:r>
              <a:t>92% match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606040"/>
            <a:ext cx="3200400" cy="2103120"/>
          </a:xfrm>
          <a:prstGeom prst="roundRect">
            <a:avLst>
              <a:gd name="adj" fmla="val 5000"/>
            </a:avLst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606040"/>
            <a:ext cx="32004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0" y="2606040"/>
            <a:ext cx="914400" cy="320040"/>
          </a:xfrm>
          <a:prstGeom prst="roundRect">
            <a:avLst>
              <a:gd name="adj" fmla="val 12000"/>
            </a:avLst>
          </a:prstGeom>
          <a:solidFill>
            <a:srgbClr val="0D2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262432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0B981"/>
                </a:solidFill>
                <a:latin typeface="Segoe UI"/>
              </a:defRPr>
            </a:pPr>
            <a:r>
              <a:t>Primary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743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Joao Santos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0175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joao.santos@email.com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246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+351 912 000 000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566160"/>
            <a:ext cx="1280160" cy="274320"/>
          </a:xfrm>
          <a:prstGeom prst="roundRect">
            <a:avLst>
              <a:gd name="adj" fmla="val 8000"/>
            </a:avLst>
          </a:prstGeom>
          <a:solidFill>
            <a:srgbClr val="0D2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5844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0B981"/>
                </a:solidFill>
                <a:latin typeface="Segoe UI"/>
              </a:defRPr>
            </a:pPr>
            <a:r>
              <a:t>Score: 72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86000" y="3566160"/>
            <a:ext cx="1371600" cy="274320"/>
          </a:xfrm>
          <a:prstGeom prst="roundRect">
            <a:avLst>
              <a:gd name="adj" fmla="val 8000"/>
            </a:avLst>
          </a:prstGeom>
          <a:solidFill>
            <a:srgbClr val="0B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0" y="35844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6B6D4"/>
                </a:solidFill>
                <a:latin typeface="Segoe UI"/>
              </a:defRPr>
            </a:pPr>
            <a:r>
              <a:t>SHORTLISTED</a:t>
            </a:r>
          </a:p>
        </p:txBody>
      </p:sp>
      <p:sp>
        <p:nvSpPr>
          <p:cNvPr id="24" name="Oval 23"/>
          <p:cNvSpPr/>
          <p:nvPr/>
        </p:nvSpPr>
        <p:spPr>
          <a:xfrm>
            <a:off x="3977639" y="333756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FFFFF"/>
                </a:solidFill>
                <a:latin typeface="Segoe UI"/>
              </a:defRPr>
            </a:pPr>
            <a:r>
              <a:t>&gt;&lt;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26280" y="2606040"/>
            <a:ext cx="3200400" cy="2103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26280" y="2606040"/>
            <a:ext cx="3200400" cy="54864"/>
          </a:xfrm>
          <a:prstGeom prst="rect">
            <a:avLst/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2743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J. Santos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30175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joao.santos@email.com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3246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+351 912 000 000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0" y="3566160"/>
            <a:ext cx="1280160" cy="274320"/>
          </a:xfrm>
          <a:prstGeom prst="roundRect">
            <a:avLst>
              <a:gd name="adj" fmla="val 8000"/>
            </a:avLst>
          </a:prstGeom>
          <a:solidFill>
            <a:srgbClr val="2D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0" y="35844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59E0B"/>
                </a:solidFill>
                <a:latin typeface="Segoe UI"/>
              </a:defRPr>
            </a:pPr>
            <a:r>
              <a:t>Score: 65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0" y="3566160"/>
            <a:ext cx="1371600" cy="274320"/>
          </a:xfrm>
          <a:prstGeom prst="roundRect">
            <a:avLst>
              <a:gd name="adj" fmla="val 8000"/>
            </a:avLst>
          </a:prstGeom>
          <a:solidFill>
            <a:srgbClr val="181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0" y="35844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NEW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54880" y="3977639"/>
            <a:ext cx="2103120" cy="320040"/>
          </a:xfrm>
          <a:prstGeom prst="roundRect">
            <a:avLst>
              <a:gd name="adj" fmla="val 8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0" y="3995928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Definir como primario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4892040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91947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Fundir em Joao Santos (primario)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41324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O registo duplicado e eliminado. Todos os dados movem para o primario.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897880"/>
            <a:ext cx="7863840" cy="365760"/>
          </a:xfrm>
          <a:prstGeom prst="roundRect">
            <a:avLst>
              <a:gd name="adj" fmla="val 4000"/>
            </a:avLst>
          </a:prstGeom>
          <a:solidFill>
            <a:srgbClr val="1F1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" y="5897880"/>
            <a:ext cx="54864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595274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9E0B"/>
                </a:solidFill>
                <a:latin typeface="Segoe UI"/>
              </a:defRPr>
            </a:pPr>
            <a:r>
              <a:t>! Ana R. / A. Rodrigues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0" y="595274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85% match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" y="6336792"/>
            <a:ext cx="7863840" cy="365760"/>
          </a:xfrm>
          <a:prstGeom prst="roundRect">
            <a:avLst>
              <a:gd name="adj" fmla="val 4000"/>
            </a:avLst>
          </a:prstGeom>
          <a:solidFill>
            <a:srgbClr val="1F1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0080" y="6336792"/>
            <a:ext cx="54864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" y="639165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9E0B"/>
                </a:solidFill>
                <a:latin typeface="Segoe UI"/>
              </a:defRPr>
            </a:pPr>
            <a:r>
              <a:t>! Sofia M. / S. Martins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32320" y="6391656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78% match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61120" y="1371600"/>
            <a:ext cx="5212080" cy="61264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3544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Relatorios e Exportacoes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235440" y="2103120"/>
            <a:ext cx="4663440" cy="914400"/>
          </a:xfrm>
          <a:prstGeom prst="roundRect">
            <a:avLst>
              <a:gd name="adj" fmla="val 3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235440" y="2103120"/>
            <a:ext cx="73152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09760" y="2194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Exportacao Excel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09760" y="2468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Lista completa com scores,</a:t>
            </a:r>
            <a:br/>
            <a:r>
              <a:t>status e dados extraidos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2984480" y="2377440"/>
            <a:ext cx="731520" cy="32004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2984480" y="2395728"/>
            <a:ext cx="731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XLSX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235440" y="3200400"/>
            <a:ext cx="4663440" cy="914400"/>
          </a:xfrm>
          <a:prstGeom prst="roundRect">
            <a:avLst>
              <a:gd name="adj" fmla="val 3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235440" y="3200400"/>
            <a:ext cx="73152" cy="914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509760" y="3291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Relatorio por Vaga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09760" y="3566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Ranking de candidatos e</a:t>
            </a:r>
            <a:br/>
            <a:r>
              <a:t>metricas de cada vaga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2984480" y="3474720"/>
            <a:ext cx="731520" cy="32004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984480" y="3493008"/>
            <a:ext cx="731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XLSX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235440" y="4297679"/>
            <a:ext cx="4663440" cy="914400"/>
          </a:xfrm>
          <a:prstGeom prst="roundRect">
            <a:avLst>
              <a:gd name="adj" fmla="val 3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235440" y="4297679"/>
            <a:ext cx="73152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509760" y="438911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Audit Log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509760" y="46634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Registo de todas as accoes</a:t>
            </a:r>
            <a:br/>
            <a:r>
              <a:t>sensitivas no sistema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2984480" y="4571999"/>
            <a:ext cx="731520" cy="32004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2984480" y="4590287"/>
            <a:ext cx="731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LOG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235440" y="5394959"/>
            <a:ext cx="4663440" cy="914400"/>
          </a:xfrm>
          <a:prstGeom prst="roundRect">
            <a:avLst>
              <a:gd name="adj" fmla="val 3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235440" y="5394959"/>
            <a:ext cx="73152" cy="9144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509760" y="548639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Merge History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509760" y="57607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Historico de duplicados</a:t>
            </a:r>
            <a:br/>
            <a:r>
              <a:t>fundidos com actor e data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2984480" y="5669279"/>
            <a:ext cx="731520" cy="320040"/>
          </a:xfrm>
          <a:prstGeom prst="roundRect">
            <a:avLst>
              <a:gd name="adj" fmla="val 10000"/>
            </a:avLst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2984480" y="5687567"/>
            <a:ext cx="731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LOG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8092440"/>
            <a:ext cx="487680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876800" y="8092440"/>
            <a:ext cx="4876805" cy="137160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753600" y="8092440"/>
            <a:ext cx="487680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3716000" y="7818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12/17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INTEGRACOES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 Light"/>
              </a:defRPr>
            </a:pPr>
            <a:r>
              <a:t>Ecossistema Microsoft 365 e Mais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29184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29184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91640" y="2011680"/>
            <a:ext cx="777240" cy="7772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Microsoft Graph</a:t>
            </a:r>
            <a:br/>
            <a:r>
              <a:t>Mail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4904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Sincronizacao bidirecional</a:t>
            </a:r>
            <a:br/>
            <a:r>
              <a:t>de emails com caixa de correio</a:t>
            </a:r>
            <a:br/>
            <a:r>
              <a:t>careers@itsector.pt</a:t>
            </a:r>
            <a:br/>
            <a:br/>
            <a:r>
              <a:t>Mail.Read | Mail.Send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77639" y="1645920"/>
            <a:ext cx="329184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77639" y="1645920"/>
            <a:ext cx="329184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212079" y="2011680"/>
            <a:ext cx="777240" cy="7772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59" y="30175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Microsoft Graph</a:t>
            </a:r>
            <a:br/>
            <a:r>
              <a:t>Calendar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59" y="374904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Agendamento de entrevistas</a:t>
            </a:r>
            <a:br/>
            <a:r>
              <a:t>directamente no M365</a:t>
            </a:r>
            <a:br/>
            <a:br/>
            <a:r>
              <a:t>Calendars.ReadWrite</a:t>
            </a:r>
            <a:br/>
            <a:r>
              <a:t>Convites automaticos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1645920"/>
            <a:ext cx="329184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98079" y="1645920"/>
            <a:ext cx="329184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732519" y="2011680"/>
            <a:ext cx="777240" cy="7772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399" y="30175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Tesseract.js</a:t>
            </a:r>
            <a:br/>
            <a:r>
              <a:t>OCR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399" y="374904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Reconhecimento de texto</a:t>
            </a:r>
            <a:br/>
            <a:r>
              <a:t>em CVs digitalizados</a:t>
            </a:r>
            <a:br/>
            <a:br/>
            <a:r>
              <a:t>Multiplos idiomas</a:t>
            </a:r>
            <a:br/>
            <a:r>
              <a:t>Fallback automatico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018520" y="1645920"/>
            <a:ext cx="329184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018520" y="1645920"/>
            <a:ext cx="32918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252960" y="2011680"/>
            <a:ext cx="777240" cy="7772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30175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ExcelJS</a:t>
            </a:r>
            <a:br/>
            <a:r>
              <a:t>Exportacao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374904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Geracao de relatorios</a:t>
            </a:r>
            <a:br/>
            <a:r>
              <a:t>Excel com dados completos</a:t>
            </a:r>
            <a:br/>
            <a:r>
              <a:t>de candidatos e metricas</a:t>
            </a:r>
            <a:br/>
            <a:br/>
            <a:r>
              <a:t>Exportacao local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6126480"/>
            <a:ext cx="13716000" cy="13716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6263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Segoe UI"/>
              </a:defRPr>
            </a:pPr>
            <a:r>
              <a:t>Inteligencia Artificial (Opcional)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6675120"/>
            <a:ext cx="1188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Suporte para OpenAI, Azure OpenAI e Anthropic — para resumos de CV, sugestoes de email e classificacao.</a:t>
            </a:r>
            <a:br/>
            <a:r>
              <a:t>Totalmente opcional: o sistema funciona com heuristicas locais sem API externa.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0" y="6355080"/>
            <a:ext cx="1188720" cy="32004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0" y="6373368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OpenAI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430000" y="6355080"/>
            <a:ext cx="1188720" cy="32004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0" y="6373368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Azure OpenAI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2801600" y="6355080"/>
            <a:ext cx="1188720" cy="320040"/>
          </a:xfrm>
          <a:prstGeom prst="roundRect">
            <a:avLst>
              <a:gd name="adj" fmla="val 1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801600" y="6373368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Anthropic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8092440"/>
            <a:ext cx="487680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76800" y="8092440"/>
            <a:ext cx="4876805" cy="137160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753600" y="8092440"/>
            <a:ext cx="487680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716000" y="7818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13/17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TECNOLOGIA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Light"/>
              </a:defRPr>
            </a:pPr>
            <a:r>
              <a:t>O Que Usamos e Como Funciona — Stack Sem Vendor Lock-in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4389120" cy="25603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43891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78308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8105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Next.js 15 App Router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25496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React 19 (Server Components)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2783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TypeScript  |  Tailwind CSS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3016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TanStack Table  |  Recharts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1554480"/>
            <a:ext cx="4389120" cy="25603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20640" y="1554480"/>
            <a:ext cx="43891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94960" y="1783080"/>
            <a:ext cx="548640" cy="5486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8105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Backend &amp;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242316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Next.js API Routes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2825496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Services + Repository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322783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Zod Validation em todas as APIs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363016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Rate Limiting 5 req / 15 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4080" y="1554480"/>
            <a:ext cx="4389120" cy="25603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784080" y="1554480"/>
            <a:ext cx="43891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58400" y="178308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18105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Base de Dados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242316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Prisma 6 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2825496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SQLite (dev)  -&gt;  PostgreSQL (prod)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322783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14+ modelos, migrations automaticas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363016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Indices optimizados para pesquisa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389120"/>
            <a:ext cx="4389120" cy="25603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389120"/>
            <a:ext cx="438912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31520" y="4617720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46451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Microsoft 365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25780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Microsoft Graph 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660136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Mail.Read  |  Mail.Send  |  Mail.ReadWrite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606247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Calendars.ReadWrite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646480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OAuth 2.0 Client Credentials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120640" y="4389120"/>
            <a:ext cx="4389120" cy="25603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120640" y="4389120"/>
            <a:ext cx="43891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394960" y="46177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46451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IA — Opcional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77840" y="525780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Azure OpenAI  |  OpenAI GPT-4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77840" y="5660136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Anthropic Claude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77840" y="606247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Sem IA: heuristicas locais activas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77840" y="646480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Zero dependencia de API externa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784080" y="4389120"/>
            <a:ext cx="4389120" cy="25603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784080" y="4389120"/>
            <a:ext cx="4389120" cy="5486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058400" y="4617720"/>
            <a:ext cx="548640" cy="54864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89920" y="46451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Seguranca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41280" y="525780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HMAC-signed session cookies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41280" y="5660136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requireAdmin  |  requireUser guards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41280" y="606247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Audit log com actor e timestamp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41280" y="646480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isActive guard + Retry-After 429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7315200"/>
            <a:ext cx="13716000" cy="594360"/>
          </a:xfrm>
          <a:prstGeom prst="roundRect">
            <a:avLst>
              <a:gd name="adj" fmla="val 3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" y="7388352"/>
            <a:ext cx="1298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Corre em qualquer servidor Windows / Linux com Node.js 20+  —  Sem dependencia de cloud obrigatoria.  Azure App Service / Docker / On-premises: pronto para qualquer ambiente.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8092440"/>
            <a:ext cx="487680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876800" y="8092440"/>
            <a:ext cx="4876805" cy="137160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753600" y="8092440"/>
            <a:ext cx="487680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3716000" y="7818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14/17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ARQUITECTURA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 Light"/>
              </a:defRPr>
            </a:pPr>
            <a:r>
              <a:t>Stack Moderna, Segura e Escalavel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13716000" cy="1143000"/>
          </a:xfrm>
          <a:prstGeom prst="roundRect">
            <a:avLst>
              <a:gd name="adj" fmla="val 3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0B1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54864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842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Segoe UI"/>
              </a:defRPr>
            </a:pPr>
            <a:r>
              <a:t>Next.js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9202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01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71800" y="1920240"/>
            <a:ext cx="54864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54680" y="19842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React 19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19202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0325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12080" y="1920240"/>
            <a:ext cx="54864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19842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Tailwind CSS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19202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1B1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52360" y="1920240"/>
            <a:ext cx="54864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19842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Segoe UI"/>
              </a:defRPr>
            </a:pPr>
            <a:r>
              <a:t>TanStack Table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92640" y="19202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311F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692640" y="1920240"/>
            <a:ext cx="54864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0" y="19842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Pagination UI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932920" y="19202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30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932920" y="1920240"/>
            <a:ext cx="54864" cy="457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115800" y="19842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3F5E"/>
                </a:solidFill>
                <a:latin typeface="Segoe UI"/>
              </a:defRPr>
            </a:pPr>
            <a:r>
              <a:t>Recharts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7040880" y="2560320"/>
            <a:ext cx="274320" cy="182880"/>
          </a:xfrm>
          <a:prstGeom prst="down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7200" y="2788920"/>
            <a:ext cx="13716000" cy="1143000"/>
          </a:xfrm>
          <a:prstGeom prst="roundRect">
            <a:avLst>
              <a:gd name="adj" fmla="val 3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28803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Segoe UI"/>
              </a:defRPr>
            </a:pPr>
            <a:r>
              <a:t>BACKEND / API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32918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0B1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3291840"/>
            <a:ext cx="54864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33558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Segoe UI"/>
              </a:defRPr>
            </a:pPr>
            <a:r>
              <a:t>API Routes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71800" y="32918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01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971800" y="3291840"/>
            <a:ext cx="54864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54680" y="33558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Services Layer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212080" y="32918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0325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212080" y="3291840"/>
            <a:ext cx="54864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94960" y="33558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Repository Pattern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52360" y="32918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1B1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52360" y="3291840"/>
            <a:ext cx="54864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35240" y="33558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Segoe UI"/>
              </a:defRPr>
            </a:pPr>
            <a:r>
              <a:t>TypeScript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692640" y="32918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311F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692640" y="3291840"/>
            <a:ext cx="54864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75520" y="33558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Zod Validation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932920" y="32918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30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932920" y="3291840"/>
            <a:ext cx="54864" cy="457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2115800" y="33558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3F5E"/>
                </a:solidFill>
                <a:latin typeface="Segoe UI"/>
              </a:defRPr>
            </a:pPr>
            <a:r>
              <a:t>Rate Limiting</a:t>
            </a:r>
          </a:p>
        </p:txBody>
      </p:sp>
      <p:sp>
        <p:nvSpPr>
          <p:cNvPr id="45" name="Down Arrow 44"/>
          <p:cNvSpPr/>
          <p:nvPr/>
        </p:nvSpPr>
        <p:spPr>
          <a:xfrm>
            <a:off x="7040880" y="3931920"/>
            <a:ext cx="274320" cy="182880"/>
          </a:xfrm>
          <a:prstGeom prst="down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57200" y="4160520"/>
            <a:ext cx="13716000" cy="1143000"/>
          </a:xfrm>
          <a:prstGeom prst="roundRect">
            <a:avLst>
              <a:gd name="adj" fmla="val 3000"/>
            </a:avLst>
          </a:prstGeom>
          <a:solidFill>
            <a:srgbClr val="142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7200" y="4160520"/>
            <a:ext cx="54864" cy="1143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42519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SEGURANCA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1520" y="46634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0B1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31520" y="4663440"/>
            <a:ext cx="54864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4400" y="47274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Segoe UI"/>
              </a:defRPr>
            </a:pPr>
            <a:r>
              <a:t>HMAC Sessions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971800" y="46634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01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971800" y="4663440"/>
            <a:ext cx="54864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154680" y="47274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requireAdmin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212080" y="46634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0325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212080" y="4663440"/>
            <a:ext cx="54864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94960" y="47274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requireUser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452360" y="46634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1B1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452360" y="4663440"/>
            <a:ext cx="54864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35240" y="47274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Segoe UI"/>
              </a:defRPr>
            </a:pPr>
            <a:r>
              <a:t>5 req/15min Limit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692640" y="46634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311F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92640" y="4663440"/>
            <a:ext cx="54864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875520" y="47274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Audit Logging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1932920" y="46634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30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1932920" y="4663440"/>
            <a:ext cx="54864" cy="457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2115800" y="47274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3F5E"/>
                </a:solidFill>
                <a:latin typeface="Segoe UI"/>
              </a:defRPr>
            </a:pPr>
            <a:r>
              <a:t>isActive Guard</a:t>
            </a:r>
          </a:p>
        </p:txBody>
      </p:sp>
      <p:sp>
        <p:nvSpPr>
          <p:cNvPr id="67" name="Down Arrow 66"/>
          <p:cNvSpPr/>
          <p:nvPr/>
        </p:nvSpPr>
        <p:spPr>
          <a:xfrm>
            <a:off x="7040880" y="5303520"/>
            <a:ext cx="274320" cy="182880"/>
          </a:xfrm>
          <a:prstGeom prst="down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457200" y="5532120"/>
            <a:ext cx="13716000" cy="1143000"/>
          </a:xfrm>
          <a:prstGeom prst="roundRect">
            <a:avLst>
              <a:gd name="adj" fmla="val 3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1520" y="56235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Segoe UI"/>
              </a:defRPr>
            </a:pPr>
            <a:r>
              <a:t>SERVICOS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31520" y="60350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0B1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31520" y="6035040"/>
            <a:ext cx="54864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14400" y="60990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Segoe UI"/>
              </a:defRPr>
            </a:pPr>
            <a:r>
              <a:t>Inbox Sync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971800" y="60350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01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971800" y="6035040"/>
            <a:ext cx="54864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154680" y="60990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CV Parsing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212080" y="60350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0325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5212080" y="6035040"/>
            <a:ext cx="54864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394960" y="60990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Scoring Engine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452360" y="60350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1B1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452360" y="6035040"/>
            <a:ext cx="54864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635240" y="60990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Segoe UI"/>
              </a:defRPr>
            </a:pPr>
            <a:r>
              <a:t>Duplicate Merge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692640" y="60350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311F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692640" y="6035040"/>
            <a:ext cx="54864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875520" y="60990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Email Service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1932920" y="60350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30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1932920" y="6035040"/>
            <a:ext cx="54864" cy="457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2115800" y="60990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3F5E"/>
                </a:solidFill>
                <a:latin typeface="Segoe UI"/>
              </a:defRPr>
            </a:pPr>
            <a:r>
              <a:t>Calendar Service</a:t>
            </a:r>
          </a:p>
        </p:txBody>
      </p:sp>
      <p:sp>
        <p:nvSpPr>
          <p:cNvPr id="88" name="Down Arrow 87"/>
          <p:cNvSpPr/>
          <p:nvPr/>
        </p:nvSpPr>
        <p:spPr>
          <a:xfrm>
            <a:off x="7040880" y="6675120"/>
            <a:ext cx="274320" cy="182880"/>
          </a:xfrm>
          <a:prstGeom prst="down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457200" y="6903720"/>
            <a:ext cx="13716000" cy="1143000"/>
          </a:xfrm>
          <a:prstGeom prst="roundRect">
            <a:avLst>
              <a:gd name="adj" fmla="val 3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31520" y="69951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Segoe UI"/>
              </a:defRPr>
            </a:pPr>
            <a:r>
              <a:t>DADOS &amp; STORAGE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731520" y="74066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0B1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31520" y="7406640"/>
            <a:ext cx="54864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14400" y="74706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Segoe UI"/>
              </a:defRPr>
            </a:pPr>
            <a:r>
              <a:t>SQLite + Prisma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2971800" y="74066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01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2971800" y="7406640"/>
            <a:ext cx="54864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154680" y="74706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Filesystem Local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5212080" y="74066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0325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212080" y="7406640"/>
            <a:ext cx="54864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394960" y="74706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14+ Modelos DB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7452360" y="74066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1B1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7452360" y="7406640"/>
            <a:ext cx="54864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635240" y="74706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Segoe UI"/>
              </a:defRPr>
            </a:pPr>
            <a:r>
              <a:t>DB Indexes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9692640" y="74066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311F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692640" y="7406640"/>
            <a:ext cx="54864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875520" y="74706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Migrations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11932920" y="74066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30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1932920" y="7406640"/>
            <a:ext cx="54864" cy="457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2115800" y="74706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3F5E"/>
                </a:solidFill>
                <a:latin typeface="Segoe UI"/>
              </a:defRPr>
            </a:pPr>
            <a:r>
              <a:t>Seed Data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0" y="8092440"/>
            <a:ext cx="487680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4876800" y="8092440"/>
            <a:ext cx="4876805" cy="137160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8092440"/>
            <a:ext cx="487680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3716000" y="7818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15/17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 Light"/>
              </a:defRPr>
            </a:pPr>
            <a:r>
              <a:t>4 Fases Concluidas — Fase 5 em Planeamento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468880"/>
            <a:ext cx="128016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80160" y="224028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834640"/>
            <a:ext cx="2651760" cy="46634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834640"/>
            <a:ext cx="265176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FASE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54480" y="2999232"/>
            <a:ext cx="1188720" cy="292608"/>
          </a:xfrm>
          <a:prstGeom prst="roundRect">
            <a:avLst>
              <a:gd name="adj" fmla="val 12000"/>
            </a:avLst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3017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0B981"/>
                </a:solidFill>
                <a:latin typeface="Segoe UI"/>
              </a:defRPr>
            </a:pPr>
            <a:r>
              <a:t>CONCLUIDO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015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Fundacao ATS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8620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8404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Auth + sessoes HMAC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30682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26110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Dashboard KPIs reais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72744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6817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Sync M365 Mail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14807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1023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Parsing PDF/DOCX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56869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52297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Motor de scoring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98932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943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Templates + envio Graph</a:t>
            </a:r>
          </a:p>
        </p:txBody>
      </p:sp>
      <p:sp>
        <p:nvSpPr>
          <p:cNvPr id="24" name="Oval 23"/>
          <p:cNvSpPr/>
          <p:nvPr/>
        </p:nvSpPr>
        <p:spPr>
          <a:xfrm>
            <a:off x="4114800" y="224028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08960" y="2834640"/>
            <a:ext cx="2651760" cy="46634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08960" y="2834640"/>
            <a:ext cx="265176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40" y="301752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FASE 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2999232"/>
            <a:ext cx="1188720" cy="292608"/>
          </a:xfrm>
          <a:prstGeom prst="roundRect">
            <a:avLst>
              <a:gd name="adj" fmla="val 12000"/>
            </a:avLst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0" y="3017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0B981"/>
                </a:solidFill>
                <a:latin typeface="Segoe UI"/>
              </a:defRPr>
            </a:pPr>
            <a:r>
              <a:t>CONCLUIDO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34015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Produtividade Operacional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83280" y="388620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11880" y="38404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Importacao JSON vagas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83280" y="430682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11880" y="426110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Bulk actions auditados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83280" y="472744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11880" y="46817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Exportacao Excel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83280" y="514807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11880" y="51023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Indices DB (14+)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83280" y="556869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11880" y="552297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Pipeline view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383280" y="598932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11880" y="5943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Talent Pool matching</a:t>
            </a:r>
          </a:p>
        </p:txBody>
      </p:sp>
      <p:sp>
        <p:nvSpPr>
          <p:cNvPr id="43" name="Oval 42"/>
          <p:cNvSpPr/>
          <p:nvPr/>
        </p:nvSpPr>
        <p:spPr>
          <a:xfrm>
            <a:off x="6949440" y="224028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43600" y="2834640"/>
            <a:ext cx="2651760" cy="46634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943600" y="2834640"/>
            <a:ext cx="265176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26480" y="301752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FASE 3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223760" y="2999232"/>
            <a:ext cx="1188720" cy="292608"/>
          </a:xfrm>
          <a:prstGeom prst="roundRect">
            <a:avLst>
              <a:gd name="adj" fmla="val 12000"/>
            </a:avLst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23760" y="3017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0B981"/>
                </a:solidFill>
                <a:latin typeface="Segoe UI"/>
              </a:defRPr>
            </a:pPr>
            <a:r>
              <a:t>CONCLUIDO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26480" y="34015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UX &amp; Admin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7920" y="388620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46520" y="38404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Timeline unificada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17920" y="430682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46520" y="426110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Notas estruturadas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17920" y="472744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46520" y="46817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Admin users toggle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17920" y="514807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46520" y="51023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Role guards (req/admin)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17920" y="556869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46520" y="552297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Candidate detail completo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17920" y="598932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46520" y="5943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Audit log actor</a:t>
            </a:r>
          </a:p>
        </p:txBody>
      </p:sp>
      <p:sp>
        <p:nvSpPr>
          <p:cNvPr id="62" name="Oval 61"/>
          <p:cNvSpPr/>
          <p:nvPr/>
        </p:nvSpPr>
        <p:spPr>
          <a:xfrm>
            <a:off x="9784080" y="224028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778240" y="2834640"/>
            <a:ext cx="2651760" cy="46634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778240" y="2834640"/>
            <a:ext cx="265176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961120" y="301752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FASE 4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058400" y="2999232"/>
            <a:ext cx="1188720" cy="292608"/>
          </a:xfrm>
          <a:prstGeom prst="roundRect">
            <a:avLst>
              <a:gd name="adj" fmla="val 12000"/>
            </a:avLst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058400" y="3017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0B981"/>
                </a:solidFill>
                <a:latin typeface="Segoe UI"/>
              </a:defRPr>
            </a:pPr>
            <a:r>
              <a:t>CONCLUIDO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61120" y="34015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Seguranca &amp; Qualidade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052560" y="388620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281160" y="38404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Rate limiting login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052560" y="430682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281160" y="426110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Pagination controls URL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052560" y="472744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281160" y="46817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Duplicate merge UI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052560" y="514807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281160" y="51023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Merge API hardened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052560" y="556869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281160" y="552297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Retry-After headers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052560" y="598932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281160" y="5943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isActive guard</a:t>
            </a:r>
          </a:p>
        </p:txBody>
      </p:sp>
      <p:sp>
        <p:nvSpPr>
          <p:cNvPr id="81" name="Oval 80"/>
          <p:cNvSpPr/>
          <p:nvPr/>
        </p:nvSpPr>
        <p:spPr>
          <a:xfrm>
            <a:off x="12618720" y="224028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1612880" y="2834640"/>
            <a:ext cx="2651760" cy="46634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1612880" y="2834640"/>
            <a:ext cx="265176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1795760" y="301752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FASE 5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2893040" y="2999232"/>
            <a:ext cx="1188720" cy="292608"/>
          </a:xfrm>
          <a:prstGeom prst="roundRect">
            <a:avLst>
              <a:gd name="adj" fmla="val 12000"/>
            </a:avLst>
          </a:prstGeom>
          <a:solidFill>
            <a:srgbClr val="3D27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2893040" y="3017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59E0B"/>
                </a:solidFill>
                <a:latin typeface="Segoe UI"/>
              </a:defRPr>
            </a:pPr>
            <a:r>
              <a:t>PLANEADO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795760" y="34015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Cobertura Completa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1887200" y="388620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2115800" y="38404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CV upload manual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1887200" y="430682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2115800" y="426110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Template CRUD UI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11887200" y="472744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2115800" y="46817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Relatorios charts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1887200" y="514807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2115800" y="51023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Auth em todas as APIs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11887200" y="556869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2115800" y="552297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Calendar interview UI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11887200" y="598932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2115800" y="5943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Settings editor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0" y="8092440"/>
            <a:ext cx="487680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4876800" y="8092440"/>
            <a:ext cx="4876805" cy="137160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753600" y="8092440"/>
            <a:ext cx="487680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3716000" y="7818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16/17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2743200"/>
            <a:ext cx="10972800" cy="10972800"/>
          </a:xfrm>
          <a:prstGeom prst="ellipse">
            <a:avLst/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2743200"/>
            <a:ext cx="9144000" cy="91440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87680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800" y="0"/>
            <a:ext cx="4876805" cy="73152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600" y="0"/>
            <a:ext cx="487680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 Light"/>
              </a:defRPr>
            </a:pPr>
            <a:r>
              <a:t>Pronto para Transformar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6B6D4"/>
                </a:solidFill>
                <a:latin typeface="Segoe UI Light"/>
              </a:defRPr>
            </a:pPr>
            <a:r>
              <a:t>o Recrutamento?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3840480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4206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BD5E1"/>
                </a:solidFill>
                <a:latin typeface="Segoe UI"/>
              </a:defRPr>
            </a:pPr>
            <a:r>
              <a:t>O ITSector Talent Inbox ATS v2 esta pronto para implementacao imediata.</a:t>
            </a:r>
            <a:br/>
            <a:r>
              <a:t>4 Fases completas. 100% local. Seguro. Inteligente.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3035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6B6D4"/>
                </a:solidFill>
                <a:latin typeface="Segoe UI"/>
              </a:defRPr>
            </a:pPr>
            <a:r>
              <a:t>19+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852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Funcionalidades</a:t>
            </a:r>
            <a:br/>
            <a:r>
              <a:t>Completas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53035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6B6D4"/>
                </a:solidFill>
                <a:latin typeface="Segoe UI"/>
              </a:defRPr>
            </a:pPr>
            <a:r>
              <a:t>14+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5852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Modelos de</a:t>
            </a:r>
            <a:br/>
            <a:r>
              <a:t>Dados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53035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6B6D4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5852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Fases</a:t>
            </a:r>
            <a:br/>
            <a:r>
              <a:t>Concluidas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53035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6B6D4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5852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Local</a:t>
            </a:r>
            <a:br/>
            <a:r>
              <a:t>&amp; Seguro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6675120"/>
            <a:ext cx="4572000" cy="64008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67208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Comecar Agora  &gt;&gt;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749807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ITSector  |  careers@itsector.pt  |  Talent Inbox ATS  v2.0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8092440"/>
            <a:ext cx="487680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76800" y="8092440"/>
            <a:ext cx="4876805" cy="137160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53600" y="8092440"/>
            <a:ext cx="487680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0" y="7818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17/17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