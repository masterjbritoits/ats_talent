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1828800"/>
            <a:ext cx="9144000" cy="9144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7680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0" y="0"/>
            <a:ext cx="4876805" cy="73152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600" y="0"/>
            <a:ext cx="487680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347472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0299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 Semibold"/>
              </a:defRPr>
            </a:pPr>
            <a:r>
              <a:t>ATS PLATFORM  |  v2.0  |  Phase 4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Segoe UI Light"/>
              </a:defRPr>
            </a:pPr>
            <a:r>
              <a:t>ITSector Talent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6B6D4"/>
                </a:solidFill>
                <a:latin typeface="Segoe UI Light"/>
              </a:defRPr>
            </a:pPr>
            <a:r>
              <a:t>Inbox 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Segoe UI"/>
              </a:defRPr>
            </a:pPr>
            <a:r>
              <a:t>Intelligent Candidate &amp; Recruitment Management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557784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Turn emails into talent. Automatically.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675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19+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995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6675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M365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6995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Native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6675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6995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Local &amp; Secure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Light"/>
              </a:defRPr>
            </a:pPr>
            <a:r>
              <a:t>Traditional Email Recruitment Doesn't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292608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1680" y="2651760"/>
            <a:ext cx="640080" cy="64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Lost Emails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Applications buried in the inbox</a:t>
            </a:r>
            <a:br/>
            <a:r>
              <a:t>with no tracking or visibility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28600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2286000"/>
            <a:ext cx="29260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03520" y="265176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Manual CVs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Reading dozens of CVs per day</a:t>
            </a:r>
            <a:br/>
            <a:r>
              <a:t>without any normalisation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28600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2286000"/>
            <a:ext cx="29260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59" y="265176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399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No 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399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Impossible to objectively compare</a:t>
            </a:r>
            <a:br/>
            <a:r>
              <a:t>candidates across open roles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0" y="2286000"/>
            <a:ext cx="292608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89920" y="2286000"/>
            <a:ext cx="292608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887200" y="2651760"/>
            <a:ext cx="640080" cy="64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Wasted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40233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Hours spent on repetitive tasks</a:t>
            </a:r>
            <a:br/>
            <a:r>
              <a:t>that could be fully automated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6217920"/>
            <a:ext cx="12801600" cy="109728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6400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67%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6446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of recruiters say they lose qualified candidates due to disorganised manual processes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Light"/>
              </a:defRPr>
            </a:pPr>
            <a:r>
              <a:t>From Email to Hire — Fully Automated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2468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25603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Email Received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Automatic sync</a:t>
            </a:r>
            <a:br/>
            <a:r>
              <a:t>with M365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3383280"/>
            <a:ext cx="3200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46120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2286000"/>
            <a:ext cx="24688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14800" y="25603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CV Processed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PDF/DOCX parsing</a:t>
            </a:r>
            <a:br/>
            <a:r>
              <a:t>and data extract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15000" y="3383280"/>
            <a:ext cx="3200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35040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286000"/>
            <a:ext cx="2468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03720" y="25603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Candidate Created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Normalised profile</a:t>
            </a:r>
            <a:br/>
            <a:r>
              <a:t>with skills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503920" y="3383280"/>
            <a:ext cx="3200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23959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23959" y="2286000"/>
            <a:ext cx="24688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39" y="256032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9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Score Calculated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19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Heuristic scoring</a:t>
            </a:r>
            <a:br/>
            <a:r>
              <a:t>per job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292839" y="3383280"/>
            <a:ext cx="320040" cy="27432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612880" y="2286000"/>
            <a:ext cx="246888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612880" y="2286000"/>
            <a:ext cx="24688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481560" y="25603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50040" y="338328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Decision Made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5004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Advance, Review</a:t>
            </a:r>
            <a:br/>
            <a:r>
              <a:t>or Reject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760720"/>
            <a:ext cx="12801600" cy="16459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9436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Segoe UI"/>
              </a:defRPr>
            </a:pPr>
            <a:r>
              <a:t>Result: Zero Manual Work in Initial Screening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649224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The system automatically processes every email, extracts CV data, creates candidate profiles,</a:t>
            </a:r>
            <a:br/>
            <a:r>
              <a:t>calculates fit scores and recommends actions — all in seconds.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Real-Time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3716000" cy="6400800"/>
          </a:xfrm>
          <a:prstGeom prst="roundRect">
            <a:avLst>
              <a:gd name="adj" fmla="val 2000"/>
            </a:avLst>
          </a:prstGeom>
          <a:solidFill>
            <a:srgbClr val="0B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286000" cy="640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ITSector 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286000" cy="36576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81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93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Talent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04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27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Settings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Segoe UI"/>
              </a:defRPr>
            </a:pPr>
            <a:r>
              <a:t>312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Total Candidates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0B981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Open Jobs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Segoe UI"/>
              </a:defRPr>
            </a:pPr>
            <a:r>
              <a:t>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In 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35640" y="1645920"/>
            <a:ext cx="2377440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3564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  <a:latin typeface="Segoe UI"/>
              </a:defRPr>
            </a:pPr>
            <a:r>
              <a:t>92%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564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Processing Rate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3291840"/>
            <a:ext cx="5029200" cy="2926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BD5E1"/>
                </a:solidFill>
                <a:latin typeface="Segoe UI"/>
              </a:defRPr>
            </a:pPr>
            <a:r>
              <a:t>Applications by 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886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.NET Dev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3922776"/>
            <a:ext cx="2880360" cy="201168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42702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React Dev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4306824"/>
            <a:ext cx="2304288" cy="201168"/>
          </a:xfrm>
          <a:prstGeom prst="roundRect">
            <a:avLst>
              <a:gd name="adj" fmla="val 2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91840" y="46542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QA Engineer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4690872"/>
            <a:ext cx="1536192" cy="201168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5038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DevOps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5074920"/>
            <a:ext cx="1856231" cy="201168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0" y="5422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Power Apps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0" y="5458968"/>
            <a:ext cx="1216152" cy="201168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0" y="5806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Mobile Dev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5843016"/>
            <a:ext cx="1408176" cy="201168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21040" y="3291840"/>
            <a:ext cx="5577840" cy="29260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BD5E1"/>
                </a:solidFill>
                <a:latin typeface="Segoe UI"/>
              </a:defRPr>
            </a:pPr>
            <a:r>
              <a:t>Recent Activity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03920" y="3840480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3794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Duplicate merged: Joao Santos (2 records)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4224528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78240" y="41788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Candidate created: Ana Rodrigues (React Dev)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03920" y="4608576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0" y="456285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Score: Pedro Almeida - 91/100 -&gt; ADVANCE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03920" y="4992624"/>
            <a:ext cx="109728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78240" y="494690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Interview scheduled: Maria Silva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03920" y="537667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78240" y="533095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Excel export: 312 candidates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5760720"/>
            <a:ext cx="109728" cy="10972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0" y="5715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Job published: DevOps Engineer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17520" y="6400800"/>
            <a:ext cx="10881360" cy="10972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BD5E1"/>
                </a:solidFill>
                <a:latin typeface="Segoe UI"/>
              </a:defRPr>
            </a:pPr>
            <a:r>
              <a:t>Recruitment Pipeline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040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New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98348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8348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8348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Review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76656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6656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Shortlist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54964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4964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964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Interview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33272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33272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3272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Offer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2115800" y="6812280"/>
            <a:ext cx="1554480" cy="54864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2115800" y="68122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15800" y="7068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Hired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SMART INBOX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Automatic Sync with Microsoft 365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3716000" cy="6217920"/>
          </a:xfrm>
          <a:prstGeom prst="roundRect">
            <a:avLst>
              <a:gd name="adj" fmla="val 2000"/>
            </a:avLst>
          </a:prstGeom>
          <a:solidFill>
            <a:srgbClr val="0B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286000" cy="640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ITSector 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2286000" cy="36576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Inbox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Candidates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81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93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Talent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04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27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Inbox - careers@itsector.pt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0" y="150876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0" y="15361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Sync Now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2103120"/>
            <a:ext cx="10972800" cy="41148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1214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Last sync: 3 minutes ago  |  29 emails processed  |  11 new candidates created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269748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0" y="269748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2743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Maria Silva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743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Application - .NET Developer Senior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27432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14:32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344400" y="278892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0" y="28072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CV Processed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329184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17520" y="329184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3337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Joao Santos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337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Application React Developer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33375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13:45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344400" y="338328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344400" y="34015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Analysing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388620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17520" y="388620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3931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Ana Costa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3931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Re: QA Engineer Opportunity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39319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12:20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344400" y="397764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44400" y="39959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New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7520" y="448056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017520" y="448056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40" y="4526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Pedro Almeida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45262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Spontaneous Application - DevOps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45262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11:05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344400" y="457200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344400" y="45902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CV Processed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017520" y="507492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91840" y="5120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Newsletter SAPO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5120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Tech News Weekly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512064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10:30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344400" y="516636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25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344400" y="51846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Ignored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017520" y="566928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017520" y="566928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5715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Sofia Martins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20640" y="5715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Interest in Power Apps role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0" y="5715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09:15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344400" y="576072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E2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2344400" y="57790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  <a:latin typeface="Segoe UI"/>
              </a:defRPr>
            </a:pPr>
            <a:r>
              <a:t>New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017520" y="6263640"/>
            <a:ext cx="10972800" cy="54864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017520" y="626364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91840" y="6309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Carlos Ferreira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20640" y="6309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CV attached - Mobile Developer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30000" y="630936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08:40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2344400" y="6355080"/>
            <a:ext cx="1188720" cy="292608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344400" y="6373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CV Processed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0400" y="7086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Green = Candidate Application Detected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0" y="7086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Gray = Ignored (non-application email)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CANDIDATE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Pipeline with Filters, Pagination and Duplicate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3716000" cy="6217920"/>
          </a:xfrm>
          <a:prstGeom prst="roundRect">
            <a:avLst>
              <a:gd name="adj" fmla="val 2000"/>
            </a:avLst>
          </a:prstGeom>
          <a:solidFill>
            <a:srgbClr val="0B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286000" cy="6400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ITSector 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585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Inbox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2286000" cy="36576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70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Candidates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815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93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Talent Pool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044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274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Candidate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0" y="1463040"/>
            <a:ext cx="2286000" cy="41148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0" y="1490472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Bulk 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1965960"/>
            <a:ext cx="10972800" cy="36576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00400" y="2029968"/>
            <a:ext cx="2286000" cy="23774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20391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Status: 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2029968"/>
            <a:ext cx="2286000" cy="23774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20391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Job: 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2029968"/>
            <a:ext cx="2286000" cy="23774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20391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Score: 0+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155680" y="2029968"/>
            <a:ext cx="2286000" cy="237744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19" y="20391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Sort: Score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2423160"/>
            <a:ext cx="10972800" cy="320040"/>
          </a:xfrm>
          <a:prstGeom prst="roundRect">
            <a:avLst>
              <a:gd name="adj" fmla="val 3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2441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#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79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Name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79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Job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24414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2441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4414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Action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2788920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08960" y="2898648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28437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11880" y="28437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Maria Silva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28437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.NET Developer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2852928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2871216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91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9680" y="2852928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287121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6B6D4"/>
                </a:solidFill>
                <a:latin typeface="Segoe UI"/>
              </a:defRPr>
            </a:pPr>
            <a:r>
              <a:t>SHORTLISTED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017520" y="3227832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108960" y="3337560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37560" y="32826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32826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Pedro Almeida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80" y="32826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DevOps Engineer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3291840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38160" y="3310128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84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69680" y="3291840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69680" y="331012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6B6D4"/>
                </a:solidFill>
                <a:latin typeface="Segoe UI"/>
              </a:defRPr>
            </a:pPr>
            <a:r>
              <a:t>SHORTLISTED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17520" y="3666744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108960" y="3776472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37560" y="3721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11880" y="3721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Joao Santos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80" y="3721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React Developer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38160" y="3730752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8160" y="3749040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76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69680" y="3730752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69680" y="3749040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MANUAL REVIEW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017520" y="4105656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108960" y="4215384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337560" y="4160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1188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Ana Costa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9788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QA Engineer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38160" y="4169664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38160" y="4187952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68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69680" y="4169664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69680" y="4187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MANUAL REVIEW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017520" y="4544568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108960" y="4654296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37560" y="45994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611880" y="4599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Sofia Martins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97880" y="4599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Power Apps Dev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38160" y="4608576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38160" y="4626864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59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869680" y="4608576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869680" y="4626864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  <a:latin typeface="Segoe UI"/>
              </a:defRPr>
            </a:pPr>
            <a:r>
              <a:t>NEW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017520" y="4983479"/>
            <a:ext cx="10972800" cy="402336"/>
          </a:xfrm>
          <a:prstGeom prst="roundRect">
            <a:avLst>
              <a:gd name="adj" fmla="val 2000"/>
            </a:avLst>
          </a:prstGeom>
          <a:solidFill>
            <a:srgbClr val="1722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3108960" y="5093207"/>
            <a:ext cx="182880" cy="182880"/>
          </a:xfrm>
          <a:prstGeom prst="roundRect">
            <a:avLst>
              <a:gd name="adj" fmla="val 1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37560" y="5038343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11880" y="503834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Carlos Ferreira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97880" y="503834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Mobile Developer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138160" y="5047487"/>
            <a:ext cx="685800" cy="256032"/>
          </a:xfrm>
          <a:prstGeom prst="roundRect">
            <a:avLst>
              <a:gd name="adj" fmla="val 10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38160" y="5065775"/>
            <a:ext cx="68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52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869680" y="5047487"/>
            <a:ext cx="1005840" cy="256032"/>
          </a:xfrm>
          <a:prstGeom prst="roundRect">
            <a:avLst>
              <a:gd name="adj" fmla="val 10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869680" y="5065775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B82F6"/>
                </a:solidFill>
                <a:latin typeface="Segoe UI"/>
              </a:defRPr>
            </a:pPr>
            <a:r>
              <a:t>NEW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017520" y="5440680"/>
            <a:ext cx="10972800" cy="41148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9184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312 total candidates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601200" y="5486400"/>
            <a:ext cx="438912" cy="2926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601200" y="549554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&lt;&lt; 1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104120" y="5486400"/>
            <a:ext cx="438912" cy="2926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104120" y="549554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&lt; 1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607040" y="5486400"/>
            <a:ext cx="438912" cy="292608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607040" y="549554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1109960" y="5486400"/>
            <a:ext cx="438912" cy="2926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1109960" y="549554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 &gt;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1612880" y="5486400"/>
            <a:ext cx="438912" cy="292608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1612880" y="549554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 &gt;&gt;&gt;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017520" y="5989320"/>
            <a:ext cx="10972800" cy="594360"/>
          </a:xfrm>
          <a:prstGeom prst="roundRect">
            <a:avLst>
              <a:gd name="adj" fmla="val 4000"/>
            </a:avLst>
          </a:prstGeom>
          <a:solidFill>
            <a:srgbClr val="2D1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017520" y="5989320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200400" y="6035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! Duplicate Review Queue  —  3 groups detected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200400" y="63093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90%+ confidence  |  Phone and email match  |  Expand to merge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2984480" y="6080760"/>
            <a:ext cx="777240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2984480" y="6099048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Review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CV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Intelligent Resume Extraction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572000" cy="59436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curriculum_vitae.pdf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148840"/>
            <a:ext cx="384048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860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MARIA SILVA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Senior .NET Developer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1188720" y="31089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PROFESSIONAL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- ITSector (2019-present) - .NET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57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- BNP Paribas (2016-2019) - Software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31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1188720" y="42062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TECHNICAL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805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C#, .NET Core, Azure, SQL Server, 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5487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REST APIs, Microservices, CI/CD, 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292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1188720" y="53035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LANGUAGES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5778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Portuguese (Native), English (Fluent)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8521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1188720" y="61264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Segoe UI"/>
              </a:defRPr>
            </a:pPr>
            <a:r>
              <a:t>EDUCATION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64008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Segoe UI"/>
              </a:defRPr>
            </a:pPr>
            <a:r>
              <a:t>MSc Computer Engineering - IST (2016)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86400" y="3840480"/>
            <a:ext cx="1097280" cy="548640"/>
          </a:xfrm>
          <a:prstGeom prst="righ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Parsing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1554480"/>
            <a:ext cx="6858000" cy="5943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Automatically Extracted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Name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286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Maria Silva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715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Current 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7157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Senior .NET Developer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1455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Location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1455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Lisbon, Portugal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5753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Years Experience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57530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8 years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005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Skills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0050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["C#", ".NET Core", "Azure", "Docker"]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434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Languages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434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["Portuguese (Native)", "English (Fluent)"]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864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Education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8646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["MSc Computer Eng. - IST 2016"]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2943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Experience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52943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["ITSector 2019-2025", "BNP Paribas 2016-19"]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57241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LinkedIn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72414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Segoe UI"/>
              </a:defRPr>
            </a:pPr>
            <a:r>
              <a:t>linkedin.com/in/maria-silva-dev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61539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Email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61539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Segoe UI"/>
              </a:defRPr>
            </a:pPr>
            <a:r>
              <a:t>maria.silva@gmail.com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65836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Parser Confidence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658367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94%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32320" y="6583680"/>
            <a:ext cx="6217920" cy="64008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498079" y="67208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79" y="67391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PDF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1119" y="67208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61119" y="67391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DOCX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424159" y="67208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24159" y="67391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DOC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887200" y="672084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887200" y="67391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OCR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SCORING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Objective and Configurable Evaluation</a:t>
            </a:r>
          </a:p>
        </p:txBody>
      </p:sp>
      <p:sp>
        <p:nvSpPr>
          <p:cNvPr id="4" name="Oval 3"/>
          <p:cNvSpPr/>
          <p:nvPr/>
        </p:nvSpPr>
        <p:spPr>
          <a:xfrm>
            <a:off x="1828800" y="2743200"/>
            <a:ext cx="2743200" cy="2743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3017520"/>
            <a:ext cx="2194560" cy="219456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36576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Required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847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Match with job requirements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0" y="171907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0" y="171907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50240" y="1645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30 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402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2240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Years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4414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Fit with required seniority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0" y="231343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0" y="2313432"/>
            <a:ext cx="137160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50240" y="2240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15 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8346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834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Optional 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0358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Differentiating competencies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0" y="290779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15600" y="2907792"/>
            <a:ext cx="914400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50240" y="2834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10 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4290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3429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Languages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6301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Language match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0" y="350215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515600" y="3502152"/>
            <a:ext cx="914400" cy="128016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50240" y="34290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10 pts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0233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4023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Title / Seniority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2245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Functional relevance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15600" y="409651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515600" y="4096512"/>
            <a:ext cx="914400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50240" y="4023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10 pts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6177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46177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Domain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48188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Industry experience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15600" y="469087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515600" y="4690872"/>
            <a:ext cx="914400" cy="128016"/>
          </a:xfrm>
          <a:prstGeom prst="roundRect">
            <a:avLst>
              <a:gd name="adj" fmla="val 3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350240" y="4617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10 pts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212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5212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Location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54132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Geographic proximity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15600" y="528523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515600" y="5285232"/>
            <a:ext cx="45720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350240" y="5212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5 pts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580644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3720" y="5806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CV Quality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60076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Profile completeness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515600" y="587959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0515600" y="5879592"/>
            <a:ext cx="457200" cy="128016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350240" y="58064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5 pts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0" y="6400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3720" y="6400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Recruiter Factor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03720" y="66019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Manual recruiter adjustment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515600" y="6473952"/>
            <a:ext cx="274320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0515600" y="6473952"/>
            <a:ext cx="457200" cy="128016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35024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5 pts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20" y="6675120"/>
            <a:ext cx="13167360" cy="82296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14400" y="6766560"/>
            <a:ext cx="731520" cy="5486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" y="67939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75+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0" y="6766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ADVANCE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0" y="70225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Auto-advances to interview stage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303520" y="6766560"/>
            <a:ext cx="731520" cy="5486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0" y="67939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45-74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0" y="6766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Segoe UI"/>
              </a:defRPr>
            </a:pPr>
            <a:r>
              <a:t>MANUAL REVIEW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70225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Requires recruiter decision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692640" y="6766560"/>
            <a:ext cx="731520" cy="54864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92640" y="67939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&lt;45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07040" y="6766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3F5E"/>
                </a:solidFill>
                <a:latin typeface="Segoe UI"/>
              </a:defRPr>
            </a:pPr>
            <a:r>
              <a:t>REJECT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607040" y="702259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Below minimum threshold for this role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JOB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Jobs with Automatic Candidate Ranking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.NET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Technology | Lisbon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8658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applicants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41071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341071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39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66674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366674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953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392277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51560" y="392277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77639" y="1554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7639" y="155448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Senior .NET Developer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Technology | Porto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59" y="237744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9" y="238658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59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applicants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59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1999" y="341071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571999" y="341071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59" y="3639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1999" y="366674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1999" y="366674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51959" y="38953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1999" y="392277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71999" y="392277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98079" y="1554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98079" y="155448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399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React Developer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399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Frontend | Remote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399" y="237744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399" y="238658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399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799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applicants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399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92439" y="341071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92439" y="341071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399" y="3639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39" y="366674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092439" y="366674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399" y="38953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92439" y="392277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092439" y="392277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1018520" y="1554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018520" y="155448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9284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Power Apps Developer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92840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Low Code | Lisbon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292840" y="237744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292840" y="238658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92840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20724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applicants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92840" y="338328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612880" y="341071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612880" y="341071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292840" y="363931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612880" y="366674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1612880" y="366674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292840" y="389534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612880" y="392277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1612880" y="392277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" y="4572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57200" y="457200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Business Analyst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Consulting | Lisbon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" y="539496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" y="540410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1520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4592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applicants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1520" y="6400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51560" y="642823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051560" y="642823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1520" y="66568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51560" y="668426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51560" y="668426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31520" y="6912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51560" y="694029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51560" y="694029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3977639" y="4572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977639" y="4572000"/>
            <a:ext cx="3291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51959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QA Engineer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51959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Quality | Porto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51959" y="539496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51959" y="540410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PAUSED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51959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66359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applicants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51959" y="6400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71999" y="642823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4571999" y="642823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251959" y="66568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571999" y="668426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571999" y="668426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251959" y="6912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1999" y="694029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4571999" y="694029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7498079" y="4572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498079" y="4572000"/>
            <a:ext cx="3291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772399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DevOps Engineer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772399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Infra | Remote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772399" y="539496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772399" y="540410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72399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686799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applicants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772399" y="6400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092439" y="642823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8092439" y="642823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772399" y="66568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092439" y="668426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8092439" y="668426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772399" y="6912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092439" y="694029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8092439" y="694029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11018520" y="457200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018520" y="4572000"/>
            <a:ext cx="329184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292840" y="4754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Mobile Developer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292840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Mobile | Lisbon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11292840" y="5394960"/>
            <a:ext cx="914400" cy="256032"/>
          </a:xfrm>
          <a:prstGeom prst="roundRect">
            <a:avLst>
              <a:gd name="adj" fmla="val 15000"/>
            </a:avLst>
          </a:prstGeom>
          <a:solidFill>
            <a:srgbClr val="252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1292840" y="5404104"/>
            <a:ext cx="914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94A3B8"/>
                </a:solidFill>
                <a:latin typeface="Segoe UI"/>
              </a:defRPr>
            </a:pPr>
            <a:r>
              <a:t>DRAFT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292840" y="5852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2207240" y="5943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applicants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292840" y="6400800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#1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1612880" y="6428232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11612880" y="6428232"/>
            <a:ext cx="1911095" cy="128016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1292840" y="6656832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#2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1612880" y="6684264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11612880" y="6684264"/>
            <a:ext cx="1569110" cy="128016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1292840" y="6912864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Segoe UI"/>
              </a:defRPr>
            </a:pPr>
            <a:r>
              <a:t>#3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1612880" y="6940296"/>
            <a:ext cx="2011680" cy="128016"/>
          </a:xfrm>
          <a:prstGeom prst="roundRect">
            <a:avLst>
              <a:gd name="adj" fmla="val 30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11612880" y="6940296"/>
            <a:ext cx="1247241" cy="128016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INTEGRATED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Templates, Emails and Interview Scheduling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6583680" cy="5943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Email Templates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73152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59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Interview Invitation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33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Auto-schedules via M365 Calendar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46888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48716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54680"/>
            <a:ext cx="73152" cy="7315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27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Professional Rejection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021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Respectful response with 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33756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35584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02336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965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Offer / Proposal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708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Template with full position details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420624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22452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9204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892040"/>
            <a:ext cx="73152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9651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Information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239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Request additional data from candidate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507492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509320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760720"/>
            <a:ext cx="6035040" cy="73152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760720"/>
            <a:ext cx="73152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833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Talent Pool Welcome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61081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Notify candidate of pool inclusion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0" y="5943600"/>
            <a:ext cx="914400" cy="32004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596188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Use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79" y="1463040"/>
            <a:ext cx="6583680" cy="5943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Compose Email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To: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2286000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0" y="2313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maria.silva@gmail.com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2834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Subject: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2834640"/>
            <a:ext cx="5029200" cy="36576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2862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Interview Invitation - .NET Developer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3566160"/>
            <a:ext cx="6035040" cy="2743200"/>
          </a:xfrm>
          <a:prstGeom prst="roundRect">
            <a:avLst>
              <a:gd name="adj" fmla="val 5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365760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Dear Maria Silva,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387705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</a:p>
        </p:txBody>
      </p:sp>
      <p:sp>
        <p:nvSpPr>
          <p:cNvPr id="47" name="TextBox 46"/>
          <p:cNvSpPr txBox="1"/>
          <p:nvPr/>
        </p:nvSpPr>
        <p:spPr>
          <a:xfrm>
            <a:off x="7955279" y="409651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We are pleased to invite you to an interview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431596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for the .NET Developer position at ITSector.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453542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7955279" y="47548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Date: 15 May 2026, 14:30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4974336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Location: ITSector Lisbon Office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55279" y="519379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</a:p>
        </p:txBody>
      </p:sp>
      <p:sp>
        <p:nvSpPr>
          <p:cNvPr id="53" name="TextBox 52"/>
          <p:cNvSpPr txBox="1"/>
          <p:nvPr/>
        </p:nvSpPr>
        <p:spPr>
          <a:xfrm>
            <a:off x="7955279" y="541324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Please confirm your availability.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563270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Kind regards,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58521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ITSector Recruitment Team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2070080" y="65836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070080" y="66111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Send via M365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41280" y="65836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41280" y="66111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Schedule M365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TALENT POOL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Reusable Talent Base for Future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Qualified candidates who don't fit the current role are preserved for future opportunities.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65836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28600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Ana Rodrigues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60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React Developer Junior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88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B6D4"/>
                </a:solidFill>
                <a:latin typeface="Segoe UI"/>
              </a:defRPr>
            </a:pPr>
            <a:r>
              <a:t>Score: 58 (Near-Fit QA)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React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TypeScript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1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Node.js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Suggestion: React Developer (when junior opens)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01168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2011680"/>
            <a:ext cx="65836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399" y="228600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BM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2286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Bruno Mendes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2560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DevOps 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2788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5CF6"/>
                </a:solidFill>
                <a:latin typeface="Segoe UI"/>
              </a:defRPr>
            </a:pPr>
            <a:r>
              <a:t>Score: 62 (Near-Fit)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399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399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5CF6"/>
                </a:solidFill>
                <a:latin typeface="Segoe UI"/>
              </a:defRPr>
            </a:pPr>
            <a:r>
              <a:t>AWS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19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19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5CF6"/>
                </a:solidFill>
                <a:latin typeface="Segoe UI"/>
              </a:defRPr>
            </a:pPr>
            <a:r>
              <a:t>Terraform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39" y="315468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221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39" y="31729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5CF6"/>
                </a:solidFill>
                <a:latin typeface="Segoe UI"/>
              </a:defRPr>
            </a:pPr>
            <a:r>
              <a:t>K8s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399" y="3611880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79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Suggestion: Next Cloud/Infra vacancy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57200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572000"/>
            <a:ext cx="65836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1520" y="48463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Carla Dias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120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Business Analyst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349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Segoe UI"/>
              </a:defRPr>
            </a:pPr>
            <a:r>
              <a:t>Score: 71 (Manual Review)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BPMN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20240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SQL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108960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0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Power BI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6172200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Suggestion: Review when Senior BA opens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79" y="457200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98079" y="4572000"/>
            <a:ext cx="65836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772399" y="48463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59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Daniel Sousa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59" y="51206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Full-Stack Developer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59" y="5349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Spontaneous Application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399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399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.NET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61119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19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Angular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49839" y="5715000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49839" y="57332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Azure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72399" y="6172200"/>
            <a:ext cx="5943600" cy="457200"/>
          </a:xfrm>
          <a:prstGeom prst="roundRect">
            <a:avLst>
              <a:gd name="adj" fmla="val 4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55279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Suggestion: Match .NET Developer or React Dev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7132320"/>
            <a:ext cx="13716000" cy="54864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717804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The Talent Pool ensures no qualified candidate is lost. Automatic job suggestions maximise pipeline ROI.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Interactive Duplicate Merge — New v2 Feature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6126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Duplicate Review Queue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481328"/>
            <a:ext cx="914400" cy="292608"/>
          </a:xfrm>
          <a:prstGeom prst="roundRect">
            <a:avLst>
              <a:gd name="adj" fmla="val 12000"/>
            </a:avLst>
          </a:prstGeom>
          <a:solidFill>
            <a:srgbClr val="3D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14996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59E0B"/>
                </a:solidFill>
                <a:latin typeface="Segoe UI"/>
              </a:defRPr>
            </a:pPr>
            <a:r>
              <a:t>3 groups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7863840" cy="502920"/>
          </a:xfrm>
          <a:prstGeom prst="roundRect">
            <a:avLst>
              <a:gd name="adj" fmla="val 4000"/>
            </a:avLst>
          </a:prstGeom>
          <a:solidFill>
            <a:srgbClr val="2A1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! 2 duplicate records detected  —  Matching phone number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2039112"/>
            <a:ext cx="1097280" cy="256032"/>
          </a:xfrm>
          <a:prstGeom prst="roundRect">
            <a:avLst>
              <a:gd name="adj" fmla="val 12000"/>
            </a:avLst>
          </a:prstGeom>
          <a:solidFill>
            <a:srgbClr val="3D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057400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43F5E"/>
                </a:solidFill>
                <a:latin typeface="Segoe UI"/>
              </a:defRPr>
            </a:pPr>
            <a:r>
              <a:t>92% match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606040"/>
            <a:ext cx="3200400" cy="2103120"/>
          </a:xfrm>
          <a:prstGeom prst="roundRect">
            <a:avLst>
              <a:gd name="adj" fmla="val 5000"/>
            </a:avLst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606040"/>
            <a:ext cx="32004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2606040"/>
            <a:ext cx="914400" cy="320040"/>
          </a:xfrm>
          <a:prstGeom prst="roundRect">
            <a:avLst>
              <a:gd name="adj" fmla="val 12000"/>
            </a:avLst>
          </a:prstGeom>
          <a:solidFill>
            <a:srgbClr val="0D2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624328"/>
            <a:ext cx="914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Segoe UI"/>
              </a:defRPr>
            </a:pPr>
            <a:r>
              <a:t>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Joao Santos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17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joao.santos@email.com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+351 912 000 000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566160"/>
            <a:ext cx="1280160" cy="274320"/>
          </a:xfrm>
          <a:prstGeom prst="roundRect">
            <a:avLst>
              <a:gd name="adj" fmla="val 8000"/>
            </a:avLst>
          </a:prstGeom>
          <a:solidFill>
            <a:srgbClr val="0D2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844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0B981"/>
                </a:solidFill>
                <a:latin typeface="Segoe UI"/>
              </a:defRPr>
            </a:pPr>
            <a:r>
              <a:t>Score: 72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3566160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0B1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3584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6B6D4"/>
                </a:solidFill>
                <a:latin typeface="Segoe UI"/>
              </a:defRPr>
            </a:pPr>
            <a:r>
              <a:t>SHORTLISTED</a:t>
            </a:r>
          </a:p>
        </p:txBody>
      </p:sp>
      <p:sp>
        <p:nvSpPr>
          <p:cNvPr id="24" name="Oval 23"/>
          <p:cNvSpPr/>
          <p:nvPr/>
        </p:nvSpPr>
        <p:spPr>
          <a:xfrm>
            <a:off x="3977639" y="33375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&gt;&lt;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2606040"/>
            <a:ext cx="3200400" cy="21031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26280" y="2606040"/>
            <a:ext cx="3200400" cy="54864"/>
          </a:xfrm>
          <a:prstGeom prst="rect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J. Santos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017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joao.santos@email.com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+351 912 000 000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3566160"/>
            <a:ext cx="1280160" cy="274320"/>
          </a:xfrm>
          <a:prstGeom prst="roundRect">
            <a:avLst>
              <a:gd name="adj" fmla="val 8000"/>
            </a:avLst>
          </a:prstGeom>
          <a:solidFill>
            <a:srgbClr val="2D1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358444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59E0B"/>
                </a:solidFill>
                <a:latin typeface="Segoe UI"/>
              </a:defRPr>
            </a:pPr>
            <a:r>
              <a:t>Score: 65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3566160"/>
            <a:ext cx="1371600" cy="274320"/>
          </a:xfrm>
          <a:prstGeom prst="roundRect">
            <a:avLst>
              <a:gd name="adj" fmla="val 8000"/>
            </a:avLst>
          </a:prstGeom>
          <a:solidFill>
            <a:srgbClr val="181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3584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NEW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3977639"/>
            <a:ext cx="2103120" cy="320040"/>
          </a:xfrm>
          <a:prstGeom prst="roundRect">
            <a:avLst>
              <a:gd name="adj" fmla="val 8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399592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Set as primary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89204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9194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Merge into Joao Santos (primary)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4132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The duplicate record is deleted. All data moves to the primary.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897880"/>
            <a:ext cx="7863840" cy="365760"/>
          </a:xfrm>
          <a:prstGeom prst="roundRect">
            <a:avLst>
              <a:gd name="adj" fmla="val 4000"/>
            </a:avLst>
          </a:prstGeom>
          <a:solidFill>
            <a:srgbClr val="1F1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897880"/>
            <a:ext cx="54864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95274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Segoe UI"/>
              </a:defRPr>
            </a:pPr>
            <a:r>
              <a:t>! Ana R. / A. Rodrigues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95274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85% match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6336792"/>
            <a:ext cx="7863840" cy="365760"/>
          </a:xfrm>
          <a:prstGeom prst="roundRect">
            <a:avLst>
              <a:gd name="adj" fmla="val 4000"/>
            </a:avLst>
          </a:prstGeom>
          <a:solidFill>
            <a:srgbClr val="1F1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" y="6336792"/>
            <a:ext cx="54864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639165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Segoe UI"/>
              </a:defRPr>
            </a:pPr>
            <a:r>
              <a:t>! Sofia M. / S. Martins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639165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78% match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20" y="1371600"/>
            <a:ext cx="5212080" cy="6126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Reports &amp; Exports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2103120"/>
            <a:ext cx="4663440" cy="91440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35440" y="210312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09760" y="2194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Excel Export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Full candidate list with</a:t>
            </a:r>
            <a:br/>
            <a:r>
              <a:t>scores, status and extracted data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984480" y="2377440"/>
            <a:ext cx="731520" cy="3200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984480" y="239572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XLSX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35440" y="3200400"/>
            <a:ext cx="4663440" cy="91440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35440" y="3200400"/>
            <a:ext cx="73152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76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Job Report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6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Candidate ranking and</a:t>
            </a:r>
            <a:br/>
            <a:r>
              <a:t>metrics per open job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2984480" y="3474720"/>
            <a:ext cx="731520" cy="3200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984480" y="349300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XLSX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35440" y="4297679"/>
            <a:ext cx="4663440" cy="91440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235440" y="4297679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09760" y="43891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Audit Log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09760" y="46634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Record of all sensitive</a:t>
            </a:r>
            <a:br/>
            <a:r>
              <a:t>actions in the system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2984480" y="4571999"/>
            <a:ext cx="731520" cy="3200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984480" y="4590287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LOG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235440" y="5394959"/>
            <a:ext cx="4663440" cy="91440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235440" y="5394959"/>
            <a:ext cx="73152" cy="914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09760" y="54863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Merge History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09760" y="57607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History of merged duplicates</a:t>
            </a:r>
            <a:br/>
            <a:r>
              <a:t>with actor and timestamp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2984480" y="5669279"/>
            <a:ext cx="731520" cy="320040"/>
          </a:xfrm>
          <a:prstGeom prst="roundRect">
            <a:avLst>
              <a:gd name="adj" fmla="val 10000"/>
            </a:avLst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984480" y="5687567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LOG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Microsoft 365 Ecosystem and More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2011680"/>
            <a:ext cx="777240" cy="7772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Microsoft Graph</a:t>
            </a:r>
            <a:br/>
            <a:r>
              <a:t>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Bidirectional sync</a:t>
            </a:r>
            <a:br/>
            <a:r>
              <a:t>with the mailbox</a:t>
            </a:r>
            <a:br/>
            <a:r>
              <a:t>careers@itsector.pt</a:t>
            </a:r>
            <a:br/>
            <a:br/>
            <a:r>
              <a:t>Mail.Read | Mail.Send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64592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645920"/>
            <a:ext cx="32918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12079" y="2011680"/>
            <a:ext cx="777240" cy="7772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Microsoft Graph</a:t>
            </a:r>
            <a:br/>
            <a:r>
              <a:t>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3749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Interview scheduling</a:t>
            </a:r>
            <a:br/>
            <a:r>
              <a:t>directly in M365</a:t>
            </a:r>
            <a:br/>
            <a:br/>
            <a:r>
              <a:t>Calendars.ReadWrite</a:t>
            </a:r>
            <a:br/>
            <a:r>
              <a:t>Automatic invites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64592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1645920"/>
            <a:ext cx="3291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32519" y="2011680"/>
            <a:ext cx="777240" cy="7772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399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Tesseract.js</a:t>
            </a:r>
            <a:br/>
            <a:r>
              <a:t>OCR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399" y="3749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Optical character recognition</a:t>
            </a:r>
            <a:br/>
            <a:r>
              <a:t>for scanned CVs</a:t>
            </a:r>
            <a:br/>
            <a:br/>
            <a:r>
              <a:t>Multiple languages</a:t>
            </a:r>
            <a:br/>
            <a:r>
              <a:t>Automatic fallback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018520" y="1645920"/>
            <a:ext cx="329184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018520" y="164592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252960" y="2011680"/>
            <a:ext cx="777240" cy="777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30175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ExcelJS</a:t>
            </a:r>
            <a:br/>
            <a:r>
              <a:t>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374904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Professional Excel</a:t>
            </a:r>
            <a:br/>
            <a:r>
              <a:t>report generation</a:t>
            </a:r>
            <a:br/>
            <a:r>
              <a:t>with full data</a:t>
            </a:r>
            <a:br/>
            <a:br/>
            <a:r>
              <a:t>Local export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126480"/>
            <a:ext cx="13716000" cy="13716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6263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Segoe UI"/>
              </a:defRPr>
            </a:pPr>
            <a:r>
              <a:t>Artificial Intelligence (Optional)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675120"/>
            <a:ext cx="1188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Support for OpenAI, Azure OpenAI and Anthropic — for CV summaries, email suggestions and advanced classification.</a:t>
            </a:r>
            <a:br/>
            <a:r>
              <a:t>Fully optional: the system works with local heuristics without any external API.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6355080"/>
            <a:ext cx="1188720" cy="32004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63733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OpenAI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6355080"/>
            <a:ext cx="1188720" cy="3200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0" y="63733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Azure OpenAI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801600" y="6355080"/>
            <a:ext cx="1188720" cy="32004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0" y="6373368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Anthropic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Segoe UI Light"/>
              </a:defRPr>
            </a:pPr>
            <a:r>
              <a:t>What We Use and How It Works — No Vendor Lock-in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438912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4389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Next.js 15 App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254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React 19 (Server Components)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278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TypeScript  |  Tailwind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301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TanStack Table  |  Recharts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554480"/>
            <a:ext cx="438912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1554480"/>
            <a:ext cx="43891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94960" y="178308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Backend &amp;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4231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Next.js API Routes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8254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Services + Repository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2278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Zod Validation on all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6301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Rate Limiting 5 req / 15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1554480"/>
            <a:ext cx="438912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1554480"/>
            <a:ext cx="4389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0" y="17830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42316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Prisma 6 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28254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SQLite (dev)  -&gt;  PostgreSQL (prod)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322783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14+ models, automatic migrations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36301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Optimised indexes for search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389120"/>
            <a:ext cx="438912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389120"/>
            <a:ext cx="43891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20" y="461772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4645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Microsoft 365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578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Microsoft Graph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66013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Mail.Read  |  Mail.Send  |  Mail.ReadWrite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0624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Calendars.ReadWrite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46480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OAuth 2.0 Client Credentials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0640" y="4389120"/>
            <a:ext cx="438912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20640" y="4389120"/>
            <a:ext cx="4389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94960" y="46177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645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AI — Optional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52578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Azure OpenAI  |  OpenAI GPT-4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566013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Anthropic Claude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60624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No AI: local heuristics active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7840" y="646480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Zero external API dependency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84080" y="4389120"/>
            <a:ext cx="4389120" cy="25603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84080" y="4389120"/>
            <a:ext cx="438912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058400" y="4617720"/>
            <a:ext cx="548640" cy="5486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46451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52578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HMAC-signed session cookies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566013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requireAdmin  |  requireUser guards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606247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Audit log with actor &amp; timestamp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646480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isActive guard + Retry-After 429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7315200"/>
            <a:ext cx="13716000" cy="594360"/>
          </a:xfrm>
          <a:prstGeom prst="roundRect">
            <a:avLst>
              <a:gd name="adj" fmla="val 3000"/>
            </a:avLst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7388352"/>
            <a:ext cx="1298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Runs on any Windows / Linux server with Node.js 20+  —  No mandatory cloud dependency.  Azure App Service / Docker / On-premises: ready for any environment.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Modern, Secure and Scalable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3716000" cy="1143000"/>
          </a:xfrm>
          <a:prstGeom prst="roundRect">
            <a:avLst>
              <a:gd name="adj" fmla="val 3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Next.js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192024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React 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0" y="192024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Tailwind CSS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192024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TanStack 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92640" y="192024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Pagination UI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932920" y="19202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932920" y="192024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15800" y="19842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Recharts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7040880" y="2560320"/>
            <a:ext cx="274320" cy="1828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2788920"/>
            <a:ext cx="13716000" cy="1143000"/>
          </a:xfrm>
          <a:prstGeom prst="roundRect">
            <a:avLst>
              <a:gd name="adj" fmla="val 3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8803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BACKEND / API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29184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API Routes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71800" y="329184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8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Services Layer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1208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12080" y="329184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Repository Pattern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52360" y="329184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TypeScript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9264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92640" y="329184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Zod Validation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932920" y="32918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932920" y="329184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115800" y="3355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Rate Limiting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7040880" y="3931920"/>
            <a:ext cx="274320" cy="1828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57200" y="4160520"/>
            <a:ext cx="13716000" cy="1143000"/>
          </a:xfrm>
          <a:prstGeom prst="roundRect">
            <a:avLst>
              <a:gd name="adj" fmla="val 3000"/>
            </a:avLst>
          </a:prstGeom>
          <a:solidFill>
            <a:srgbClr val="142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4160520"/>
            <a:ext cx="54864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251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1520" y="466344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HMAC Sessions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7180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971800" y="466344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5468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requireAdmin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21208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212080" y="466344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requireUser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5236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452360" y="466344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3524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5 req/15min Limit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9264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92640" y="466344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7552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Audit Logging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932920" y="46634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932920" y="466344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115800" y="47274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isActive Guard</a:t>
            </a:r>
          </a:p>
        </p:txBody>
      </p:sp>
      <p:sp>
        <p:nvSpPr>
          <p:cNvPr id="67" name="Down Arrow 66"/>
          <p:cNvSpPr/>
          <p:nvPr/>
        </p:nvSpPr>
        <p:spPr>
          <a:xfrm>
            <a:off x="7040880" y="5303520"/>
            <a:ext cx="274320" cy="1828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57200" y="5532120"/>
            <a:ext cx="13716000" cy="1143000"/>
          </a:xfrm>
          <a:prstGeom prst="roundRect">
            <a:avLst>
              <a:gd name="adj" fmla="val 3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" y="5623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SERVICES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" y="603504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440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Inbox Sync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97180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971800" y="603504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15468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CV Parsing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21208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212080" y="603504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9496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Scoring Engine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45236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452360" y="603504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3524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Duplicate Merge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69264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692640" y="603504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7552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Email Service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1932920" y="60350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1932920" y="603504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2115800" y="60990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Calendar Service</a:t>
            </a:r>
          </a:p>
        </p:txBody>
      </p:sp>
      <p:sp>
        <p:nvSpPr>
          <p:cNvPr id="88" name="Down Arrow 87"/>
          <p:cNvSpPr/>
          <p:nvPr/>
        </p:nvSpPr>
        <p:spPr>
          <a:xfrm>
            <a:off x="7040880" y="6675120"/>
            <a:ext cx="274320" cy="1828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457200" y="6903720"/>
            <a:ext cx="13716000" cy="1143000"/>
          </a:xfrm>
          <a:prstGeom prst="roundRect">
            <a:avLst>
              <a:gd name="adj" fmla="val 3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1520" y="69951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DATA &amp; STORAGE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3152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B1A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31520" y="740664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440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Segoe UI"/>
              </a:defRPr>
            </a:pPr>
            <a:r>
              <a:t>SQLite + Prisma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97180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1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971800" y="7406640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15468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Local Filesystem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21208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0325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212080" y="7406640"/>
            <a:ext cx="54864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9496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14+ DB Models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45236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1B12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452360" y="7406640"/>
            <a:ext cx="54864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63524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DB Indexes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69264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11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692640" y="7406640"/>
            <a:ext cx="54864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87552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Migrations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1932920" y="7406640"/>
            <a:ext cx="2011680" cy="457200"/>
          </a:xfrm>
          <a:prstGeom prst="roundRect">
            <a:avLst>
              <a:gd name="adj" fmla="val 8000"/>
            </a:avLst>
          </a:prstGeom>
          <a:solidFill>
            <a:srgbClr val="300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1932920" y="7406640"/>
            <a:ext cx="54864" cy="457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2115800" y="7470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Seed Data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Segoe U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 Light"/>
              </a:defRPr>
            </a:pPr>
            <a:r>
              <a:t>4 Phases Complete — Phase 5 in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68880"/>
            <a:ext cx="12801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22402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834640"/>
            <a:ext cx="2651760" cy="4663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83464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54480" y="2999232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ATS Foundation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862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Auth + HMAC sessions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068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Real dashboard KPIs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274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M365 Mail sync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PDF/DOCX parsing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686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522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Scoring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9893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Templates + Graph send</a:t>
            </a:r>
          </a:p>
        </p:txBody>
      </p:sp>
      <p:sp>
        <p:nvSpPr>
          <p:cNvPr id="24" name="Oval 23"/>
          <p:cNvSpPr/>
          <p:nvPr/>
        </p:nvSpPr>
        <p:spPr>
          <a:xfrm>
            <a:off x="4114800" y="22402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2834640"/>
            <a:ext cx="2651760" cy="4663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08960" y="283464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017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2999232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Operational Productivity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38862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8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JSON job import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3068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80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Audited bulk actions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47274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188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Excel export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8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1188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DB indexes (14+)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80" y="55686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1880" y="5522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Pipeline view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83280" y="59893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1188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Talent Pool matching</a:t>
            </a:r>
          </a:p>
        </p:txBody>
      </p:sp>
      <p:sp>
        <p:nvSpPr>
          <p:cNvPr id="43" name="Oval 42"/>
          <p:cNvSpPr/>
          <p:nvPr/>
        </p:nvSpPr>
        <p:spPr>
          <a:xfrm>
            <a:off x="6949440" y="22402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0" y="2834640"/>
            <a:ext cx="2651760" cy="4663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0" y="283464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0" y="3017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23760" y="2999232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2376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UX &amp; Admin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38862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Unified timeline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43068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20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Structured notes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47274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Admin users toggle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792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Role guards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55686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5522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Full candidate detail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59893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Audit log with actor</a:t>
            </a:r>
          </a:p>
        </p:txBody>
      </p:sp>
      <p:sp>
        <p:nvSpPr>
          <p:cNvPr id="62" name="Oval 61"/>
          <p:cNvSpPr/>
          <p:nvPr/>
        </p:nvSpPr>
        <p:spPr>
          <a:xfrm>
            <a:off x="9784080" y="224028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778240" y="2834640"/>
            <a:ext cx="2651760" cy="4663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778240" y="2834640"/>
            <a:ext cx="26517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61120" y="3017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PHASE 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058400" y="2999232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042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5840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0B981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Security &amp; Quality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052560" y="38862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8116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Login rate limiting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52560" y="43068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81160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URL pagination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052560" y="47274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8116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Duplicate merge UI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05256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8116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Hardened merge API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052560" y="55686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81160" y="5522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Retry-After headers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052560" y="59893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28116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isActive guard</a:t>
            </a:r>
          </a:p>
        </p:txBody>
      </p:sp>
      <p:sp>
        <p:nvSpPr>
          <p:cNvPr id="81" name="Oval 80"/>
          <p:cNvSpPr/>
          <p:nvPr/>
        </p:nvSpPr>
        <p:spPr>
          <a:xfrm>
            <a:off x="12618720" y="224028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1612880" y="2834640"/>
            <a:ext cx="2651760" cy="46634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612880" y="2834640"/>
            <a:ext cx="26517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795760" y="30175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PHASE 5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2893040" y="2999232"/>
            <a:ext cx="1188720" cy="292608"/>
          </a:xfrm>
          <a:prstGeom prst="roundRect">
            <a:avLst>
              <a:gd name="adj" fmla="val 12000"/>
            </a:avLst>
          </a:prstGeom>
          <a:solidFill>
            <a:srgbClr val="3D27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2893040" y="3017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59E0B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795760" y="340156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Full Coverage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1887200" y="38862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2115800" y="3840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Manual CV upload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1887200" y="43068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2115800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Template CRUD UI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1887200" y="47274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211580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Reports with charts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1887200" y="51480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2115800" y="51023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Auth on all APIs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1887200" y="556869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2115800" y="55229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Calendar interview UI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1887200" y="59893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211580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Settings editor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743200"/>
            <a:ext cx="10972800" cy="10972800"/>
          </a:xfrm>
          <a:prstGeom prst="ellipse">
            <a:avLst/>
          </a:prstGeom>
          <a:solidFill>
            <a:srgbClr val="15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2743200"/>
            <a:ext cx="9144000" cy="91440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7680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76800" y="0"/>
            <a:ext cx="4876805" cy="73152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600" y="0"/>
            <a:ext cx="487680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 Light"/>
              </a:defRPr>
            </a:pPr>
            <a:r>
              <a:t>Ready to Transform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6B6D4"/>
                </a:solidFill>
                <a:latin typeface="Segoe UI Light"/>
              </a:defRPr>
            </a:pPr>
            <a:r>
              <a:t>Recruitment?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384048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206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ITSector Talent Inbox ATS v2 is ready for immediate deployment.</a:t>
            </a:r>
            <a:br/>
            <a:r>
              <a:t>4 Phases complete. 100% local. Secure. Intelligent.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19+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Complete</a:t>
            </a:r>
            <a:br/>
            <a: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14+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Database</a:t>
            </a:r>
            <a:br/>
            <a: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Phases</a:t>
            </a:r>
            <a:br/>
            <a:r>
              <a:t>Complete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6B6D4"/>
                </a:solidFill>
                <a:latin typeface="Segoe UI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58521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Local</a:t>
            </a:r>
            <a:br/>
            <a:r>
              <a:t>&amp; Secure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6675120"/>
            <a:ext cx="4572000" cy="64008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6720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Get Started  &gt;&gt;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74980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ITSector  |  careers@itsector.pt  |  Talent Inbox ATS  v2.0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8092440"/>
            <a:ext cx="487680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76800" y="8092440"/>
            <a:ext cx="4876805" cy="137160"/>
          </a:xfrm>
          <a:prstGeom prst="rect">
            <a:avLst/>
          </a:prstGeom>
          <a:solidFill>
            <a:srgbClr val="209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53600" y="8092440"/>
            <a:ext cx="4876805" cy="137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0" y="7818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